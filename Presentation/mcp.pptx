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9.jpg" ContentType="image/jpeg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media/image27.jpg" ContentType="image/jpeg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704" r:id="rId2"/>
  </p:sldMasterIdLst>
  <p:notesMasterIdLst>
    <p:notesMasterId r:id="rId11"/>
  </p:notesMasterIdLst>
  <p:handoutMasterIdLst>
    <p:handoutMasterId r:id="rId12"/>
  </p:handoutMasterIdLst>
  <p:sldIdLst>
    <p:sldId id="262" r:id="rId3"/>
    <p:sldId id="273" r:id="rId4"/>
    <p:sldId id="274" r:id="rId5"/>
    <p:sldId id="275" r:id="rId6"/>
    <p:sldId id="276" r:id="rId7"/>
    <p:sldId id="277" r:id="rId8"/>
    <p:sldId id="278" r:id="rId9"/>
    <p:sldId id="272" r:id="rId10"/>
  </p:sldIdLst>
  <p:sldSz cx="12192000" cy="6858000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E6E8DA-E659-5C43-BB33-4DC8B3FC836B}" v="42" dt="2026-05-05T11:10:51.610"/>
    <p1510:client id="{70AA5C9D-C976-3C41-A3CD-68F43B0B7499}" v="37" dt="2026-05-05T11:41:55.2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4"/>
    <p:restoredTop sz="57594"/>
  </p:normalViewPr>
  <p:slideViewPr>
    <p:cSldViewPr snapToGrid="0">
      <p:cViewPr varScale="1">
        <p:scale>
          <a:sx n="84" d="100"/>
          <a:sy n="84" d="100"/>
        </p:scale>
        <p:origin x="20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7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óf Varga-Balázs" userId="7a579ed8-ccb6-4d00-8cbf-7f79694997bd" providerId="ADAL" clId="{4A9627DF-3E24-5F31-A4D7-CAA1C115540D}"/>
    <pc:docChg chg="undo redo custSel addSld delSld modSld">
      <pc:chgData name="Kristóf Varga-Balázs" userId="7a579ed8-ccb6-4d00-8cbf-7f79694997bd" providerId="ADAL" clId="{4A9627DF-3E24-5F31-A4D7-CAA1C115540D}" dt="2026-05-05T11:42:55.659" v="106" actId="1076"/>
      <pc:docMkLst>
        <pc:docMk/>
      </pc:docMkLst>
      <pc:sldChg chg="modNotesTx">
        <pc:chgData name="Kristóf Varga-Balázs" userId="7a579ed8-ccb6-4d00-8cbf-7f79694997bd" providerId="ADAL" clId="{4A9627DF-3E24-5F31-A4D7-CAA1C115540D}" dt="2026-05-05T11:13:55.540" v="0" actId="6549"/>
        <pc:sldMkLst>
          <pc:docMk/>
          <pc:sldMk cId="2250755321" sldId="262"/>
        </pc:sldMkLst>
      </pc:sldChg>
      <pc:sldChg chg="modAnim">
        <pc:chgData name="Kristóf Varga-Balázs" userId="7a579ed8-ccb6-4d00-8cbf-7f79694997bd" providerId="ADAL" clId="{4A9627DF-3E24-5F31-A4D7-CAA1C115540D}" dt="2026-05-05T11:18:14.100" v="88"/>
        <pc:sldMkLst>
          <pc:docMk/>
          <pc:sldMk cId="4192169203" sldId="273"/>
        </pc:sldMkLst>
      </pc:sldChg>
      <pc:sldChg chg="addSp delSp modSp mod">
        <pc:chgData name="Kristóf Varga-Balázs" userId="7a579ed8-ccb6-4d00-8cbf-7f79694997bd" providerId="ADAL" clId="{4A9627DF-3E24-5F31-A4D7-CAA1C115540D}" dt="2026-05-05T11:42:55.659" v="106" actId="1076"/>
        <pc:sldMkLst>
          <pc:docMk/>
          <pc:sldMk cId="3636729954" sldId="276"/>
        </pc:sldMkLst>
        <pc:picChg chg="add del mod">
          <ac:chgData name="Kristóf Varga-Balázs" userId="7a579ed8-ccb6-4d00-8cbf-7f79694997bd" providerId="ADAL" clId="{4A9627DF-3E24-5F31-A4D7-CAA1C115540D}" dt="2026-05-05T11:40:26.948" v="97" actId="478"/>
          <ac:picMkLst>
            <pc:docMk/>
            <pc:sldMk cId="3636729954" sldId="276"/>
            <ac:picMk id="2" creationId="{809F6FF1-FE0C-C4D2-686E-8AB905412FE4}"/>
          </ac:picMkLst>
        </pc:picChg>
        <pc:picChg chg="del">
          <ac:chgData name="Kristóf Varga-Balázs" userId="7a579ed8-ccb6-4d00-8cbf-7f79694997bd" providerId="ADAL" clId="{4A9627DF-3E24-5F31-A4D7-CAA1C115540D}" dt="2026-05-05T11:41:54.809" v="98" actId="478"/>
          <ac:picMkLst>
            <pc:docMk/>
            <pc:sldMk cId="3636729954" sldId="276"/>
            <ac:picMk id="5" creationId="{37FF6B73-9398-2EF2-D6A3-86C6A35D677A}"/>
          </ac:picMkLst>
        </pc:picChg>
        <pc:picChg chg="add mod">
          <ac:chgData name="Kristóf Varga-Balázs" userId="7a579ed8-ccb6-4d00-8cbf-7f79694997bd" providerId="ADAL" clId="{4A9627DF-3E24-5F31-A4D7-CAA1C115540D}" dt="2026-05-05T11:42:55.659" v="106" actId="1076"/>
          <ac:picMkLst>
            <pc:docMk/>
            <pc:sldMk cId="3636729954" sldId="276"/>
            <ac:picMk id="6" creationId="{3761EA0A-162C-4384-3BF9-710942376BE7}"/>
          </ac:picMkLst>
        </pc:picChg>
      </pc:sldChg>
      <pc:sldChg chg="addSp delSp modSp mod modAnim">
        <pc:chgData name="Kristóf Varga-Balázs" userId="7a579ed8-ccb6-4d00-8cbf-7f79694997bd" providerId="ADAL" clId="{4A9627DF-3E24-5F31-A4D7-CAA1C115540D}" dt="2026-05-05T11:19:01.880" v="95"/>
        <pc:sldMkLst>
          <pc:docMk/>
          <pc:sldMk cId="369442958" sldId="278"/>
        </pc:sldMkLst>
        <pc:spChg chg="mod">
          <ac:chgData name="Kristóf Varga-Balázs" userId="7a579ed8-ccb6-4d00-8cbf-7f79694997bd" providerId="ADAL" clId="{4A9627DF-3E24-5F31-A4D7-CAA1C115540D}" dt="2026-05-05T11:15:00.903" v="8" actId="14100"/>
          <ac:spMkLst>
            <pc:docMk/>
            <pc:sldMk cId="369442958" sldId="278"/>
            <ac:spMk id="2" creationId="{1870C5D9-DFD4-B1E2-8FB9-A485DEFE7E12}"/>
          </ac:spMkLst>
        </pc:spChg>
        <pc:spChg chg="add del mod">
          <ac:chgData name="Kristóf Varga-Balázs" userId="7a579ed8-ccb6-4d00-8cbf-7f79694997bd" providerId="ADAL" clId="{4A9627DF-3E24-5F31-A4D7-CAA1C115540D}" dt="2026-05-05T11:17:57.792" v="84" actId="1076"/>
          <ac:spMkLst>
            <pc:docMk/>
            <pc:sldMk cId="369442958" sldId="278"/>
            <ac:spMk id="6" creationId="{A39149DE-DA32-1C9A-45DE-BBDBDBB52C37}"/>
          </ac:spMkLst>
        </pc:spChg>
        <pc:spChg chg="add mod">
          <ac:chgData name="Kristóf Varga-Balázs" userId="7a579ed8-ccb6-4d00-8cbf-7f79694997bd" providerId="ADAL" clId="{4A9627DF-3E24-5F31-A4D7-CAA1C115540D}" dt="2026-05-05T11:17:57.792" v="84" actId="1076"/>
          <ac:spMkLst>
            <pc:docMk/>
            <pc:sldMk cId="369442958" sldId="278"/>
            <ac:spMk id="7" creationId="{7856E717-D63D-DA48-3AD3-9FEEBE63D35C}"/>
          </ac:spMkLst>
        </pc:spChg>
        <pc:spChg chg="add mod">
          <ac:chgData name="Kristóf Varga-Balázs" userId="7a579ed8-ccb6-4d00-8cbf-7f79694997bd" providerId="ADAL" clId="{4A9627DF-3E24-5F31-A4D7-CAA1C115540D}" dt="2026-05-05T11:18:44.624" v="91" actId="767"/>
          <ac:spMkLst>
            <pc:docMk/>
            <pc:sldMk cId="369442958" sldId="278"/>
            <ac:spMk id="9" creationId="{9CAE7BBD-EF85-C883-83AA-F9CE0CC795B5}"/>
          </ac:spMkLst>
        </pc:spChg>
        <pc:grpChg chg="add mod">
          <ac:chgData name="Kristóf Varga-Balázs" userId="7a579ed8-ccb6-4d00-8cbf-7f79694997bd" providerId="ADAL" clId="{4A9627DF-3E24-5F31-A4D7-CAA1C115540D}" dt="2026-05-05T11:17:57.792" v="84" actId="1076"/>
          <ac:grpSpMkLst>
            <pc:docMk/>
            <pc:sldMk cId="369442958" sldId="278"/>
            <ac:grpSpMk id="8" creationId="{8760C35F-7A01-0CCC-FDE5-15308B7632F4}"/>
          </ac:grpSpMkLst>
        </pc:grpChg>
        <pc:picChg chg="add mod">
          <ac:chgData name="Kristóf Varga-Balázs" userId="7a579ed8-ccb6-4d00-8cbf-7f79694997bd" providerId="ADAL" clId="{4A9627DF-3E24-5F31-A4D7-CAA1C115540D}" dt="2026-05-05T11:17:57.792" v="84" actId="1076"/>
          <ac:picMkLst>
            <pc:docMk/>
            <pc:sldMk cId="369442958" sldId="278"/>
            <ac:picMk id="5" creationId="{2AFB03C9-2FF2-5A34-F9FE-4A7386924F6C}"/>
          </ac:picMkLst>
        </pc:picChg>
        <pc:picChg chg="add mod">
          <ac:chgData name="Kristóf Varga-Balázs" userId="7a579ed8-ccb6-4d00-8cbf-7f79694997bd" providerId="ADAL" clId="{4A9627DF-3E24-5F31-A4D7-CAA1C115540D}" dt="2026-05-05T11:17:57.792" v="84" actId="1076"/>
          <ac:picMkLst>
            <pc:docMk/>
            <pc:sldMk cId="369442958" sldId="278"/>
            <ac:picMk id="2050" creationId="{C12548EE-2924-B71A-FA1A-824891DBCEC5}"/>
          </ac:picMkLst>
        </pc:picChg>
      </pc:sldChg>
      <pc:sldChg chg="addSp delSp modSp new del">
        <pc:chgData name="Kristóf Varga-Balázs" userId="7a579ed8-ccb6-4d00-8cbf-7f79694997bd" providerId="ADAL" clId="{4A9627DF-3E24-5F31-A4D7-CAA1C115540D}" dt="2026-05-05T11:18:39.753" v="89" actId="2696"/>
        <pc:sldMkLst>
          <pc:docMk/>
          <pc:sldMk cId="3954747379" sldId="279"/>
        </pc:sldMkLst>
        <pc:spChg chg="del">
          <ac:chgData name="Kristóf Varga-Balázs" userId="7a579ed8-ccb6-4d00-8cbf-7f79694997bd" providerId="ADAL" clId="{4A9627DF-3E24-5F31-A4D7-CAA1C115540D}" dt="2026-05-05T11:14:46.062" v="2" actId="478"/>
          <ac:spMkLst>
            <pc:docMk/>
            <pc:sldMk cId="3954747379" sldId="279"/>
            <ac:spMk id="2" creationId="{CA37231E-42DE-AE27-0C2D-66274DA09CE1}"/>
          </ac:spMkLst>
        </pc:spChg>
        <pc:picChg chg="add del mod">
          <ac:chgData name="Kristóf Varga-Balázs" userId="7a579ed8-ccb6-4d00-8cbf-7f79694997bd" providerId="ADAL" clId="{4A9627DF-3E24-5F31-A4D7-CAA1C115540D}" dt="2026-05-05T11:15:03.572" v="9" actId="21"/>
          <ac:picMkLst>
            <pc:docMk/>
            <pc:sldMk cId="3954747379" sldId="279"/>
            <ac:picMk id="1026" creationId="{3F1F61AB-C860-5DB2-38D0-AA2501C2FBC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1C0C25-44E0-3325-CD28-96CF5090DD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9FA659-B726-22B6-259A-042C6CAA3D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3F79B-18C5-B542-A18E-5EB2C9204963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736723-7A8F-35F6-A307-F40D97B93C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A5CE9-11E9-7F0F-1B6A-3E695120A6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66198A-F4FC-FB41-8321-124200831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7859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CDCA49-0751-DE4E-8FFF-B1CA2DBAFAE6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28F969-2FFF-744E-9003-DCD7D4001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131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8F969-2FFF-744E-9003-DCD7D40010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088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“Today I’ll introduce the Model Context Protocol, or MCP.</a:t>
            </a:r>
            <a:br>
              <a:rPr lang="en-US" dirty="0"/>
            </a:br>
            <a:r>
              <a:rPr lang="en-US" dirty="0"/>
              <a:t>We’ll start with a short overview of what it is, then look at why it actually matters using concrete examples.</a:t>
            </a:r>
            <a:br>
              <a:rPr lang="en-US" dirty="0"/>
            </a:br>
            <a:r>
              <a:rPr lang="en-US" dirty="0"/>
              <a:t>After that, I’ll walk through how it works technically, and finally I’ll show a live demo where an AI interacts with a real system using MCP.”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8F969-2FFF-744E-9003-DCD7D40010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0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“MCP stands for Model Context Protocol.</a:t>
            </a:r>
            <a:br>
              <a:rPr lang="en-US" dirty="0"/>
            </a:br>
            <a:r>
              <a:rPr lang="en-US" dirty="0"/>
              <a:t>It’s essentially a standardized way for AI models to interact with external tools and data sources.</a:t>
            </a:r>
          </a:p>
          <a:p>
            <a:endParaRPr lang="en-US" dirty="0"/>
          </a:p>
          <a:p>
            <a:r>
              <a:rPr lang="en-US" dirty="0"/>
              <a:t>Instead of an AI just generating text, it can now call functions, query databases, or trigger actions in systems.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 key idea is separation: the model focuses on reasoning, while external tools handle execution and real data.</a:t>
            </a:r>
            <a:br>
              <a:rPr lang="en-US" dirty="0"/>
            </a:br>
            <a:endParaRPr lang="en-US" dirty="0"/>
          </a:p>
          <a:p>
            <a:r>
              <a:rPr lang="en-US" dirty="0"/>
              <a:t>You can think of MCP as APIs—but designed specifically for AI agents.”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8F969-2FFF-744E-9003-DCD7D40010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35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“Large language models by themselves are limited.</a:t>
            </a:r>
            <a:br>
              <a:rPr lang="en-US" dirty="0"/>
            </a:br>
            <a:r>
              <a:rPr lang="en-US" dirty="0"/>
              <a:t>They don’t have access to real-time data, they can’t interact with systems, and they may hallucinate.</a:t>
            </a:r>
          </a:p>
          <a:p>
            <a:r>
              <a:rPr lang="en-US" dirty="0"/>
              <a:t>MCP solves this by connecting the model to real tools.</a:t>
            </a:r>
          </a:p>
          <a:p>
            <a:r>
              <a:rPr lang="en-US" dirty="0"/>
              <a:t>That means instead of guessing, the AI can:</a:t>
            </a:r>
          </a:p>
          <a:p>
            <a:r>
              <a:rPr lang="en-US" dirty="0"/>
              <a:t>query your database</a:t>
            </a:r>
          </a:p>
          <a:p>
            <a:r>
              <a:rPr lang="en-US" dirty="0"/>
              <a:t>trigger actions</a:t>
            </a:r>
          </a:p>
          <a:p>
            <a:r>
              <a:rPr lang="en-US" dirty="0"/>
              <a:t>and give grounded, reliable answers</a:t>
            </a:r>
          </a:p>
          <a:p>
            <a:r>
              <a:rPr lang="en-US" dirty="0"/>
              <a:t>For example, instead of asking a model hypothetically about inventory, we can ask:</a:t>
            </a:r>
            <a:br>
              <a:rPr lang="en-US" dirty="0"/>
            </a:br>
            <a:r>
              <a:rPr lang="en-US" dirty="0"/>
              <a:t>‘Which products are low in stock?’</a:t>
            </a:r>
            <a:br>
              <a:rPr lang="en-US" dirty="0"/>
            </a:br>
            <a:r>
              <a:rPr lang="en-US" dirty="0"/>
              <a:t>—and it actually checks the system.</a:t>
            </a:r>
          </a:p>
          <a:p>
            <a:r>
              <a:rPr lang="en-US" dirty="0"/>
              <a:t>This transforms AI from a chatbot into a real assistant.”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8F969-2FFF-744E-9003-DCD7D40010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19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“Technically, MCP consists of three main parts.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First, the MCP server. This exposes tools—for example, database queries or business logic.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Second, the MCP host. This acts as the orchestrator. It connects the model with the tools.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Third, the language model itself, which decides when and how to use those tools.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flow is the following:</a:t>
            </a:r>
            <a:br>
              <a:rPr lang="en-US" dirty="0"/>
            </a:br>
            <a:r>
              <a:rPr lang="en-US" dirty="0"/>
              <a:t>A user asks a question.</a:t>
            </a:r>
            <a:br>
              <a:rPr lang="en-US" dirty="0"/>
            </a:br>
            <a:r>
              <a:rPr lang="en-US" dirty="0"/>
              <a:t>The model decides that it needs data.</a:t>
            </a:r>
            <a:br>
              <a:rPr lang="en-US" dirty="0"/>
            </a:br>
            <a:r>
              <a:rPr lang="en-US" dirty="0"/>
              <a:t>The MCP host calls the appropriate tool.</a:t>
            </a:r>
            <a:br>
              <a:rPr lang="en-US" dirty="0"/>
            </a:br>
            <a:r>
              <a:rPr lang="en-US" dirty="0"/>
              <a:t>The tool returns real data.</a:t>
            </a:r>
            <a:br>
              <a:rPr lang="en-US" dirty="0"/>
            </a:br>
            <a:r>
              <a:rPr lang="en-US" dirty="0"/>
              <a:t>And finally, the model generates an answer based on that data.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So the intelligence stays in the model, while execution happens in the tools.”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8F969-2FFF-744E-9003-DCD7D40010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73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8F969-2FFF-744E-9003-DCD7D40010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51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8F969-2FFF-744E-9003-DCD7D40010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79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mailto:sebastian.schlund@tuwien.ac.a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walter.mayrhofer@tuwien.ac.a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patrick.rupprecht@tuwien.ac.a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5.jp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mailto:sebastian.schlund@tuwien.ac.at" TargetMode="External"/><Relationship Id="rId13" Type="http://schemas.openxmlformats.org/officeDocument/2006/relationships/image" Target="../media/image17.jpe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12" Type="http://schemas.openxmlformats.org/officeDocument/2006/relationships/image" Target="../media/image16.png"/><Relationship Id="rId2" Type="http://schemas.openxmlformats.org/officeDocument/2006/relationships/image" Target="../media/image8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hyperlink" Target="mailto:tanja.zigart@tuwien.ac.at" TargetMode="Externa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hyperlink" Target="mailto:sebastian.schlund@tuwien.ac.at" TargetMode="External"/><Relationship Id="rId13" Type="http://schemas.openxmlformats.org/officeDocument/2006/relationships/image" Target="../media/image17.jpe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12" Type="http://schemas.openxmlformats.org/officeDocument/2006/relationships/image" Target="../media/image16.png"/><Relationship Id="rId2" Type="http://schemas.openxmlformats.org/officeDocument/2006/relationships/image" Target="../media/image8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5" Type="http://schemas.openxmlformats.org/officeDocument/2006/relationships/image" Target="../media/image18.jpe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hyperlink" Target="mailto:tanja.zigart@tuwien.ac.at" TargetMode="External"/><Relationship Id="rId14" Type="http://schemas.openxmlformats.org/officeDocument/2006/relationships/hyperlink" Target="mailto:Christina.Schmidbauer@tuwien.ac.at" TargetMode="Externa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mailto:sebastian.schlund@tuwien.ac.a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walter.mayrhofer@tuwien.ac.a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patrick.rupprecht@tuwien.ac.a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5.jp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13" Type="http://schemas.openxmlformats.org/officeDocument/2006/relationships/hyperlink" Target="mailto:David.Kames@tuwien.ac.at" TargetMode="External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12" Type="http://schemas.openxmlformats.org/officeDocument/2006/relationships/hyperlink" Target="mailto:Christina.Schmidbauer@tuwien.ac.at" TargetMode="External"/><Relationship Id="rId2" Type="http://schemas.openxmlformats.org/officeDocument/2006/relationships/image" Target="../media/image8.gif"/><Relationship Id="rId16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20.jpeg"/><Relationship Id="rId5" Type="http://schemas.openxmlformats.org/officeDocument/2006/relationships/image" Target="../media/image11.png"/><Relationship Id="rId15" Type="http://schemas.openxmlformats.org/officeDocument/2006/relationships/image" Target="../media/image22.png"/><Relationship Id="rId10" Type="http://schemas.openxmlformats.org/officeDocument/2006/relationships/hyperlink" Target="mailto:walter.mayrhofer@tuwien.ac.at" TargetMode="External"/><Relationship Id="rId4" Type="http://schemas.openxmlformats.org/officeDocument/2006/relationships/image" Target="../media/image10.png"/><Relationship Id="rId9" Type="http://schemas.openxmlformats.org/officeDocument/2006/relationships/hyperlink" Target="mailto:sebastian.schlund@tuwien.ac.at" TargetMode="External"/><Relationship Id="rId14" Type="http://schemas.openxmlformats.org/officeDocument/2006/relationships/image" Target="../media/image21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M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07497" y="1220756"/>
            <a:ext cx="11645153" cy="4905409"/>
          </a:xfrm>
        </p:spPr>
        <p:txBody>
          <a:bodyPr/>
          <a:lstStyle>
            <a:lvl1pPr>
              <a:buNone/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143004" y="6356352"/>
            <a:ext cx="2173817" cy="365125"/>
          </a:xfrm>
        </p:spPr>
        <p:txBody>
          <a:bodyPr/>
          <a:lstStyle>
            <a:lvl1pPr marL="0" algn="l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Model-Context-Protocol by Kristóf Varga-Balázs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311400" cy="365125"/>
          </a:xfrm>
        </p:spPr>
        <p:txBody>
          <a:bodyPr/>
          <a:lstStyle>
            <a:lvl1pPr marL="0" algn="r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7867CDA-4693-FC4B-B498-098FC17878A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142967" y="82416"/>
            <a:ext cx="7008284" cy="649419"/>
          </a:xfrm>
        </p:spPr>
        <p:txBody>
          <a:bodyPr anchor="ctr"/>
          <a:lstStyle>
            <a:lvl1pPr marL="0" indent="0">
              <a:buNone/>
              <a:defRPr sz="3600" b="1" baseline="0"/>
            </a:lvl1pPr>
          </a:lstStyle>
          <a:p>
            <a:pPr lvl="0"/>
            <a:r>
              <a:rPr lang="de-AT" dirty="0"/>
              <a:t>1-1 Titel</a:t>
            </a:r>
          </a:p>
        </p:txBody>
      </p:sp>
    </p:spTree>
    <p:extLst>
      <p:ext uri="{BB962C8B-B14F-4D97-AF65-F5344CB8AC3E}">
        <p14:creationId xmlns:p14="http://schemas.microsoft.com/office/powerpoint/2010/main" val="129057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+Überschrift_M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2967" y="1220755"/>
            <a:ext cx="10713673" cy="70298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142966" y="1988840"/>
            <a:ext cx="10713675" cy="4137325"/>
          </a:xfrm>
        </p:spPr>
        <p:txBody>
          <a:bodyPr/>
          <a:lstStyle>
            <a:lvl1pPr>
              <a:buNone/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143004" y="6356352"/>
            <a:ext cx="2173817" cy="365125"/>
          </a:xfrm>
        </p:spPr>
        <p:txBody>
          <a:bodyPr/>
          <a:lstStyle>
            <a:lvl1pPr marL="0" algn="l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Model-Context-Protocol by Kristóf Varga-Balázs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311400" cy="365125"/>
          </a:xfrm>
        </p:spPr>
        <p:txBody>
          <a:bodyPr/>
          <a:lstStyle>
            <a:lvl1pPr marL="0" algn="r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7867CDA-4693-FC4B-B498-098FC17878A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142967" y="82416"/>
            <a:ext cx="7008284" cy="435381"/>
          </a:xfrm>
        </p:spPr>
        <p:txBody>
          <a:bodyPr/>
          <a:lstStyle>
            <a:lvl1pPr marL="0" indent="0">
              <a:buNone/>
              <a:defRPr b="1" baseline="0"/>
            </a:lvl1pPr>
          </a:lstStyle>
          <a:p>
            <a:pPr lvl="0"/>
            <a:r>
              <a:rPr lang="de-AT" dirty="0"/>
              <a:t>1-1 Titel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142967" y="441332"/>
            <a:ext cx="2302933" cy="383117"/>
          </a:xfrm>
        </p:spPr>
        <p:txBody>
          <a:bodyPr/>
          <a:lstStyle>
            <a:lvl1pPr marL="0" indent="0">
              <a:buNone/>
              <a:defRPr sz="1867"/>
            </a:lvl1pPr>
          </a:lstStyle>
          <a:p>
            <a:pPr lvl="0"/>
            <a:r>
              <a:rPr lang="de-AT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532343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M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1143003" y="1508787"/>
            <a:ext cx="6585179" cy="3648405"/>
          </a:xfrm>
        </p:spPr>
        <p:txBody>
          <a:bodyPr/>
          <a:lstStyle>
            <a:lvl1pPr>
              <a:buNone/>
              <a:defRPr>
                <a:latin typeface="Arial" pitchFamily="34" charset="0"/>
                <a:cs typeface="Arial" pitchFamily="34" charset="0"/>
              </a:defRPr>
            </a:lvl1pPr>
            <a:lvl2pPr marL="457189" indent="0">
              <a:lnSpc>
                <a:spcPct val="200000"/>
              </a:lnSpc>
              <a:buNone/>
              <a:defRPr baseline="0"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</a:lstStyle>
          <a:p>
            <a:pPr lvl="1"/>
            <a:r>
              <a:rPr lang="de-DE" dirty="0"/>
              <a:t>1-1	Kapitel 1</a:t>
            </a:r>
          </a:p>
          <a:p>
            <a:pPr lvl="1"/>
            <a:r>
              <a:rPr lang="de-DE" dirty="0"/>
              <a:t>1-2	Kapitel 2</a:t>
            </a:r>
          </a:p>
          <a:p>
            <a:pPr lvl="1"/>
            <a:r>
              <a:rPr lang="de-DE" dirty="0"/>
              <a:t>1-3	Kapitel 3</a:t>
            </a:r>
          </a:p>
          <a:p>
            <a:pPr lvl="1"/>
            <a:r>
              <a:rPr lang="de-DE" dirty="0"/>
              <a:t>1-4	Kapitel 4</a:t>
            </a:r>
          </a:p>
          <a:p>
            <a:pPr lvl="1"/>
            <a:r>
              <a:rPr lang="de-DE" dirty="0"/>
              <a:t>1-5	Kapitel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143004" y="6356352"/>
            <a:ext cx="2173817" cy="365125"/>
          </a:xfrm>
        </p:spPr>
        <p:txBody>
          <a:bodyPr/>
          <a:lstStyle>
            <a:lvl1pPr marL="0" algn="l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Model-Context-Protocol by Kristóf Varga-Balázs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311400" cy="365125"/>
          </a:xfrm>
        </p:spPr>
        <p:txBody>
          <a:bodyPr/>
          <a:lstStyle>
            <a:lvl1pPr marL="0" algn="r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7867CDA-4693-FC4B-B498-098FC17878A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Inhaltsplatzhalter 2"/>
          <p:cNvSpPr>
            <a:spLocks noGrp="1"/>
          </p:cNvSpPr>
          <p:nvPr>
            <p:ph idx="15"/>
          </p:nvPr>
        </p:nvSpPr>
        <p:spPr>
          <a:xfrm>
            <a:off x="7920203" y="1075765"/>
            <a:ext cx="3360373" cy="1873181"/>
          </a:xfrm>
        </p:spPr>
        <p:txBody>
          <a:bodyPr anchor="ctr"/>
          <a:lstStyle>
            <a:lvl1pPr>
              <a:buNone/>
              <a:defRPr>
                <a:latin typeface="Arial" pitchFamily="34" charset="0"/>
                <a:cs typeface="Arial" pitchFamily="34" charset="0"/>
              </a:defRPr>
            </a:lvl1pPr>
            <a:lvl2pPr marL="457189" indent="0" algn="ctr">
              <a:lnSpc>
                <a:spcPct val="200000"/>
              </a:lnSpc>
              <a:buNone/>
              <a:defRPr baseline="0"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Inhaltsplatzhalter 2"/>
          <p:cNvSpPr>
            <a:spLocks noGrp="1"/>
          </p:cNvSpPr>
          <p:nvPr>
            <p:ph idx="16"/>
          </p:nvPr>
        </p:nvSpPr>
        <p:spPr>
          <a:xfrm>
            <a:off x="7920203" y="2965098"/>
            <a:ext cx="3360373" cy="1873181"/>
          </a:xfrm>
        </p:spPr>
        <p:txBody>
          <a:bodyPr anchor="ctr"/>
          <a:lstStyle>
            <a:lvl1pPr>
              <a:buNone/>
              <a:defRPr>
                <a:latin typeface="Arial" pitchFamily="34" charset="0"/>
                <a:cs typeface="Arial" pitchFamily="34" charset="0"/>
              </a:defRPr>
            </a:lvl1pPr>
            <a:lvl2pPr marL="457189" indent="0" algn="ctr">
              <a:lnSpc>
                <a:spcPct val="200000"/>
              </a:lnSpc>
              <a:buNone/>
              <a:defRPr baseline="0"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Inhaltsplatzhalter 2"/>
          <p:cNvSpPr>
            <a:spLocks noGrp="1"/>
          </p:cNvSpPr>
          <p:nvPr>
            <p:ph idx="17"/>
          </p:nvPr>
        </p:nvSpPr>
        <p:spPr>
          <a:xfrm>
            <a:off x="7920203" y="4857710"/>
            <a:ext cx="3360373" cy="1873181"/>
          </a:xfrm>
        </p:spPr>
        <p:txBody>
          <a:bodyPr anchor="ctr"/>
          <a:lstStyle>
            <a:lvl1pPr>
              <a:buNone/>
              <a:defRPr>
                <a:latin typeface="Arial" pitchFamily="34" charset="0"/>
                <a:cs typeface="Arial" pitchFamily="34" charset="0"/>
              </a:defRPr>
            </a:lvl1pPr>
            <a:lvl2pPr marL="457189" indent="0" algn="ctr">
              <a:lnSpc>
                <a:spcPct val="200000"/>
              </a:lnSpc>
              <a:buNone/>
              <a:defRPr baseline="0"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1143004" y="170544"/>
            <a:ext cx="329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047782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RNZIELE_M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1143003" y="1508787"/>
            <a:ext cx="6585179" cy="3648405"/>
          </a:xfrm>
        </p:spPr>
        <p:txBody>
          <a:bodyPr/>
          <a:lstStyle>
            <a:lvl1pPr>
              <a:buNone/>
              <a:defRPr>
                <a:latin typeface="Arial" pitchFamily="34" charset="0"/>
                <a:cs typeface="Arial" pitchFamily="34" charset="0"/>
              </a:defRPr>
            </a:lvl1pPr>
            <a:lvl2pPr marL="457189" indent="0">
              <a:lnSpc>
                <a:spcPct val="200000"/>
              </a:lnSpc>
              <a:buNone/>
              <a:defRPr baseline="0"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</a:lstStyle>
          <a:p>
            <a:pPr lvl="1"/>
            <a:r>
              <a:rPr lang="de-DE"/>
              <a:t>1-1	Kapitel 1</a:t>
            </a:r>
          </a:p>
          <a:p>
            <a:pPr lvl="1"/>
            <a:r>
              <a:rPr lang="de-DE"/>
              <a:t>1-2	Kapitel 2</a:t>
            </a:r>
          </a:p>
          <a:p>
            <a:pPr lvl="1"/>
            <a:r>
              <a:rPr lang="de-DE"/>
              <a:t>1-3	Kapitel 3</a:t>
            </a:r>
          </a:p>
          <a:p>
            <a:pPr lvl="1"/>
            <a:r>
              <a:rPr lang="de-DE"/>
              <a:t>1-4	Kapitel 4</a:t>
            </a:r>
          </a:p>
          <a:p>
            <a:pPr lvl="1"/>
            <a:r>
              <a:rPr lang="de-DE"/>
              <a:t>1-5	Kapitel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143004" y="6356352"/>
            <a:ext cx="2173817" cy="365125"/>
          </a:xfrm>
        </p:spPr>
        <p:txBody>
          <a:bodyPr/>
          <a:lstStyle>
            <a:lvl1pPr marL="0" algn="l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Model-Context-Protocol by Kristóf Varga-Balázs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311400" cy="365125"/>
          </a:xfrm>
        </p:spPr>
        <p:txBody>
          <a:bodyPr/>
          <a:lstStyle>
            <a:lvl1pPr marL="0" algn="r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7867CDA-4693-FC4B-B498-098FC17878A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7920203" y="1075765"/>
            <a:ext cx="3360373" cy="1873181"/>
          </a:xfrm>
        </p:spPr>
        <p:txBody>
          <a:bodyPr anchor="ctr"/>
          <a:lstStyle>
            <a:lvl1pPr>
              <a:buNone/>
              <a:defRPr>
                <a:latin typeface="Arial" pitchFamily="34" charset="0"/>
                <a:cs typeface="Arial" pitchFamily="34" charset="0"/>
              </a:defRPr>
            </a:lvl1pPr>
            <a:lvl2pPr marL="457189" indent="0" algn="ctr">
              <a:lnSpc>
                <a:spcPct val="200000"/>
              </a:lnSpc>
              <a:buNone/>
              <a:defRPr baseline="0"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</a:lstStyle>
          <a:p>
            <a:pPr lvl="1"/>
            <a:r>
              <a:rPr lang="de-DE"/>
              <a:t>FOTO 1</a:t>
            </a:r>
          </a:p>
        </p:txBody>
      </p:sp>
      <p:sp>
        <p:nvSpPr>
          <p:cNvPr id="18" name="Inhaltsplatzhalter 2"/>
          <p:cNvSpPr>
            <a:spLocks noGrp="1"/>
          </p:cNvSpPr>
          <p:nvPr>
            <p:ph idx="16" hasCustomPrompt="1"/>
          </p:nvPr>
        </p:nvSpPr>
        <p:spPr>
          <a:xfrm>
            <a:off x="7920203" y="2965098"/>
            <a:ext cx="3360373" cy="1873181"/>
          </a:xfrm>
        </p:spPr>
        <p:txBody>
          <a:bodyPr anchor="ctr"/>
          <a:lstStyle>
            <a:lvl1pPr>
              <a:buNone/>
              <a:defRPr>
                <a:latin typeface="Arial" pitchFamily="34" charset="0"/>
                <a:cs typeface="Arial" pitchFamily="34" charset="0"/>
              </a:defRPr>
            </a:lvl1pPr>
            <a:lvl2pPr marL="457189" indent="0" algn="ctr">
              <a:lnSpc>
                <a:spcPct val="200000"/>
              </a:lnSpc>
              <a:buNone/>
              <a:defRPr baseline="0"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</a:lstStyle>
          <a:p>
            <a:pPr lvl="1"/>
            <a:r>
              <a:rPr lang="de-DE"/>
              <a:t>FOTO 1</a:t>
            </a:r>
          </a:p>
        </p:txBody>
      </p:sp>
      <p:sp>
        <p:nvSpPr>
          <p:cNvPr id="19" name="Inhaltsplatzhalter 2"/>
          <p:cNvSpPr>
            <a:spLocks noGrp="1"/>
          </p:cNvSpPr>
          <p:nvPr>
            <p:ph idx="17" hasCustomPrompt="1"/>
          </p:nvPr>
        </p:nvSpPr>
        <p:spPr>
          <a:xfrm>
            <a:off x="7920203" y="4857710"/>
            <a:ext cx="3360373" cy="1873181"/>
          </a:xfrm>
        </p:spPr>
        <p:txBody>
          <a:bodyPr anchor="ctr"/>
          <a:lstStyle>
            <a:lvl1pPr>
              <a:buNone/>
              <a:defRPr>
                <a:latin typeface="Arial" pitchFamily="34" charset="0"/>
                <a:cs typeface="Arial" pitchFamily="34" charset="0"/>
              </a:defRPr>
            </a:lvl1pPr>
            <a:lvl2pPr marL="457189" indent="0" algn="ctr">
              <a:lnSpc>
                <a:spcPct val="200000"/>
              </a:lnSpc>
              <a:buNone/>
              <a:defRPr baseline="0"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</a:lstStyle>
          <a:p>
            <a:pPr lvl="1"/>
            <a:r>
              <a:rPr lang="de-DE"/>
              <a:t>FOTO 1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1145568" y="170544"/>
            <a:ext cx="329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/>
              <a:t>LERNZIELE</a:t>
            </a:r>
          </a:p>
        </p:txBody>
      </p:sp>
    </p:spTree>
    <p:extLst>
      <p:ext uri="{BB962C8B-B14F-4D97-AF65-F5344CB8AC3E}">
        <p14:creationId xmlns:p14="http://schemas.microsoft.com/office/powerpoint/2010/main" val="272979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ERNZIELE_M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1143003" y="1508787"/>
            <a:ext cx="6585179" cy="3648405"/>
          </a:xfrm>
        </p:spPr>
        <p:txBody>
          <a:bodyPr/>
          <a:lstStyle>
            <a:lvl1pPr>
              <a:buNone/>
              <a:defRPr>
                <a:latin typeface="Arial" pitchFamily="34" charset="0"/>
                <a:cs typeface="Arial" pitchFamily="34" charset="0"/>
              </a:defRPr>
            </a:lvl1pPr>
            <a:lvl2pPr marL="457189" indent="0">
              <a:lnSpc>
                <a:spcPct val="200000"/>
              </a:lnSpc>
              <a:buNone/>
              <a:defRPr baseline="0"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</a:lstStyle>
          <a:p>
            <a:pPr lvl="1"/>
            <a:r>
              <a:rPr lang="de-DE" dirty="0"/>
              <a:t>1-1	Kapitel 1</a:t>
            </a:r>
          </a:p>
          <a:p>
            <a:pPr lvl="1"/>
            <a:r>
              <a:rPr lang="de-DE" dirty="0"/>
              <a:t>1-2	Kapitel 2</a:t>
            </a:r>
          </a:p>
          <a:p>
            <a:pPr lvl="1"/>
            <a:r>
              <a:rPr lang="de-DE" dirty="0"/>
              <a:t>1-3	Kapitel 3</a:t>
            </a:r>
          </a:p>
          <a:p>
            <a:pPr lvl="1"/>
            <a:r>
              <a:rPr lang="de-DE" dirty="0"/>
              <a:t>1-4	Kapitel 4</a:t>
            </a:r>
          </a:p>
          <a:p>
            <a:pPr lvl="1"/>
            <a:r>
              <a:rPr lang="de-DE" dirty="0"/>
              <a:t>1-5	Kapitel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143004" y="6356352"/>
            <a:ext cx="2173817" cy="365125"/>
          </a:xfrm>
        </p:spPr>
        <p:txBody>
          <a:bodyPr/>
          <a:lstStyle>
            <a:lvl1pPr marL="0" algn="l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Model-Context-Protocol by Kristóf Varga-Balázs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311400" cy="365125"/>
          </a:xfrm>
        </p:spPr>
        <p:txBody>
          <a:bodyPr/>
          <a:lstStyle>
            <a:lvl1pPr marL="0" algn="r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7867CDA-4693-FC4B-B498-098FC17878A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7920203" y="1075765"/>
            <a:ext cx="3360373" cy="1873181"/>
          </a:xfrm>
        </p:spPr>
        <p:txBody>
          <a:bodyPr anchor="ctr"/>
          <a:lstStyle>
            <a:lvl1pPr>
              <a:buNone/>
              <a:defRPr>
                <a:latin typeface="Arial" pitchFamily="34" charset="0"/>
                <a:cs typeface="Arial" pitchFamily="34" charset="0"/>
              </a:defRPr>
            </a:lvl1pPr>
            <a:lvl2pPr marL="457189" indent="0" algn="ctr">
              <a:lnSpc>
                <a:spcPct val="200000"/>
              </a:lnSpc>
              <a:buNone/>
              <a:defRPr baseline="0"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</a:lstStyle>
          <a:p>
            <a:pPr lvl="1"/>
            <a:r>
              <a:rPr lang="de-DE" dirty="0"/>
              <a:t>FOTO 1</a:t>
            </a:r>
          </a:p>
        </p:txBody>
      </p:sp>
      <p:sp>
        <p:nvSpPr>
          <p:cNvPr id="18" name="Inhaltsplatzhalter 2"/>
          <p:cNvSpPr>
            <a:spLocks noGrp="1"/>
          </p:cNvSpPr>
          <p:nvPr>
            <p:ph idx="16" hasCustomPrompt="1"/>
          </p:nvPr>
        </p:nvSpPr>
        <p:spPr>
          <a:xfrm>
            <a:off x="7920203" y="2965098"/>
            <a:ext cx="3360373" cy="1873181"/>
          </a:xfrm>
        </p:spPr>
        <p:txBody>
          <a:bodyPr anchor="ctr"/>
          <a:lstStyle>
            <a:lvl1pPr>
              <a:buNone/>
              <a:defRPr>
                <a:latin typeface="Arial" pitchFamily="34" charset="0"/>
                <a:cs typeface="Arial" pitchFamily="34" charset="0"/>
              </a:defRPr>
            </a:lvl1pPr>
            <a:lvl2pPr marL="457189" indent="0" algn="ctr">
              <a:lnSpc>
                <a:spcPct val="200000"/>
              </a:lnSpc>
              <a:buNone/>
              <a:defRPr baseline="0"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</a:lstStyle>
          <a:p>
            <a:pPr lvl="1"/>
            <a:r>
              <a:rPr lang="de-DE" dirty="0"/>
              <a:t>FOTO 1</a:t>
            </a:r>
          </a:p>
        </p:txBody>
      </p:sp>
      <p:sp>
        <p:nvSpPr>
          <p:cNvPr id="19" name="Inhaltsplatzhalter 2"/>
          <p:cNvSpPr>
            <a:spLocks noGrp="1"/>
          </p:cNvSpPr>
          <p:nvPr>
            <p:ph idx="17" hasCustomPrompt="1"/>
          </p:nvPr>
        </p:nvSpPr>
        <p:spPr>
          <a:xfrm>
            <a:off x="7920203" y="4857710"/>
            <a:ext cx="3360373" cy="1873181"/>
          </a:xfrm>
        </p:spPr>
        <p:txBody>
          <a:bodyPr anchor="ctr"/>
          <a:lstStyle>
            <a:lvl1pPr>
              <a:buNone/>
              <a:defRPr>
                <a:latin typeface="Arial" pitchFamily="34" charset="0"/>
                <a:cs typeface="Arial" pitchFamily="34" charset="0"/>
              </a:defRPr>
            </a:lvl1pPr>
            <a:lvl2pPr marL="457189" indent="0" algn="ctr">
              <a:lnSpc>
                <a:spcPct val="200000"/>
              </a:lnSpc>
              <a:buNone/>
              <a:defRPr baseline="0"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</a:lstStyle>
          <a:p>
            <a:pPr lvl="1"/>
            <a:r>
              <a:rPr lang="de-DE" dirty="0"/>
              <a:t>FOTO 1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1145568" y="170543"/>
            <a:ext cx="329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 dirty="0"/>
              <a:t>Learning </a:t>
            </a:r>
            <a:r>
              <a:rPr lang="de-AT" sz="2400" b="1" dirty="0" err="1"/>
              <a:t>Objectives</a:t>
            </a:r>
            <a:endParaRPr lang="de-AT" sz="2400" b="1" dirty="0"/>
          </a:p>
        </p:txBody>
      </p:sp>
    </p:spTree>
    <p:extLst>
      <p:ext uri="{BB962C8B-B14F-4D97-AF65-F5344CB8AC3E}">
        <p14:creationId xmlns:p14="http://schemas.microsoft.com/office/powerpoint/2010/main" val="2459401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Inhalte_M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2965" y="1220755"/>
            <a:ext cx="10713675" cy="70298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672064" y="1988840"/>
            <a:ext cx="5184576" cy="4137325"/>
          </a:xfrm>
        </p:spPr>
        <p:txBody>
          <a:bodyPr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1143003" y="6356352"/>
            <a:ext cx="2190751" cy="365125"/>
          </a:xfrm>
        </p:spPr>
        <p:txBody>
          <a:bodyPr/>
          <a:lstStyle>
            <a:lvl1pPr>
              <a:defRPr baseline="0">
                <a:solidFill>
                  <a:srgbClr val="00669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rgbClr val="00669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Model-Context-Protocol by Kristóf Varga-Balázs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311400" cy="365125"/>
          </a:xfrm>
        </p:spPr>
        <p:txBody>
          <a:bodyPr/>
          <a:lstStyle>
            <a:lvl1pPr>
              <a:defRPr baseline="0">
                <a:solidFill>
                  <a:srgbClr val="00669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17867CDA-4693-FC4B-B498-098FC17878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Inhaltsplatzhalter 3"/>
          <p:cNvSpPr>
            <a:spLocks noGrp="1"/>
          </p:cNvSpPr>
          <p:nvPr>
            <p:ph sz="half" idx="13"/>
          </p:nvPr>
        </p:nvSpPr>
        <p:spPr>
          <a:xfrm>
            <a:off x="1142965" y="1988840"/>
            <a:ext cx="5184576" cy="4137325"/>
          </a:xfrm>
        </p:spPr>
        <p:txBody>
          <a:bodyPr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platzhalt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142967" y="82416"/>
            <a:ext cx="7008284" cy="435381"/>
          </a:xfrm>
        </p:spPr>
        <p:txBody>
          <a:bodyPr/>
          <a:lstStyle>
            <a:lvl1pPr marL="0" indent="0">
              <a:buNone/>
              <a:defRPr b="1" baseline="0"/>
            </a:lvl1pPr>
          </a:lstStyle>
          <a:p>
            <a:pPr lvl="0"/>
            <a:r>
              <a:rPr lang="de-AT" dirty="0"/>
              <a:t>1-1 Titel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142967" y="441332"/>
            <a:ext cx="2302933" cy="383117"/>
          </a:xfrm>
        </p:spPr>
        <p:txBody>
          <a:bodyPr/>
          <a:lstStyle>
            <a:lvl1pPr marL="0" indent="0">
              <a:buNone/>
              <a:defRPr sz="1867"/>
            </a:lvl1pPr>
          </a:lstStyle>
          <a:p>
            <a:pPr lvl="0"/>
            <a:r>
              <a:rPr lang="de-AT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3515477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BS_M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143004" y="6356352"/>
            <a:ext cx="2173817" cy="365125"/>
          </a:xfrm>
        </p:spPr>
        <p:txBody>
          <a:bodyPr/>
          <a:lstStyle>
            <a:lvl1pPr marL="0" algn="l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Model-Context-Protocol by Kristóf Varga-Balázs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311400" cy="365125"/>
          </a:xfrm>
        </p:spPr>
        <p:txBody>
          <a:bodyPr/>
          <a:lstStyle>
            <a:lvl1pPr marL="0" algn="r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7867CDA-4693-FC4B-B498-098FC17878A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feld 1"/>
          <p:cNvSpPr txBox="1"/>
          <p:nvPr/>
        </p:nvSpPr>
        <p:spPr>
          <a:xfrm>
            <a:off x="1143004" y="170544"/>
            <a:ext cx="329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/>
              <a:t>KONTAKT</a:t>
            </a:r>
          </a:p>
        </p:txBody>
      </p:sp>
      <p:sp>
        <p:nvSpPr>
          <p:cNvPr id="10" name="object 4"/>
          <p:cNvSpPr txBox="1"/>
          <p:nvPr/>
        </p:nvSpPr>
        <p:spPr>
          <a:xfrm>
            <a:off x="1142967" y="1380194"/>
            <a:ext cx="7185660" cy="1856684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567"/>
              </a:spcBef>
            </a:pPr>
            <a:r>
              <a:rPr sz="1867" spc="-40">
                <a:latin typeface="Arial"/>
                <a:cs typeface="Arial"/>
              </a:rPr>
              <a:t>Univ. </a:t>
            </a:r>
            <a:r>
              <a:rPr sz="1867">
                <a:latin typeface="Arial"/>
                <a:cs typeface="Arial"/>
              </a:rPr>
              <a:t>Prof. </a:t>
            </a:r>
            <a:r>
              <a:rPr sz="1867" spc="-13">
                <a:latin typeface="Arial"/>
                <a:cs typeface="Arial"/>
              </a:rPr>
              <a:t>Dr.-Ing.</a:t>
            </a:r>
            <a:endParaRPr sz="1867">
              <a:latin typeface="Arial"/>
              <a:cs typeface="Arial"/>
            </a:endParaRPr>
          </a:p>
          <a:p>
            <a:pPr marL="16933">
              <a:lnSpc>
                <a:spcPct val="100000"/>
              </a:lnSpc>
              <a:spcBef>
                <a:spcPts val="627"/>
              </a:spcBef>
            </a:pPr>
            <a:r>
              <a:rPr sz="2667" b="1">
                <a:latin typeface="Arial"/>
                <a:cs typeface="Arial"/>
              </a:rPr>
              <a:t>Sebastian</a:t>
            </a:r>
            <a:r>
              <a:rPr sz="2667" b="1" spc="-40">
                <a:latin typeface="Arial"/>
                <a:cs typeface="Arial"/>
              </a:rPr>
              <a:t> </a:t>
            </a:r>
            <a:r>
              <a:rPr sz="2667" b="1">
                <a:latin typeface="Arial"/>
                <a:cs typeface="Arial"/>
              </a:rPr>
              <a:t>Schlund</a:t>
            </a:r>
            <a:endParaRPr sz="2667">
              <a:latin typeface="Arial"/>
              <a:cs typeface="Arial"/>
            </a:endParaRPr>
          </a:p>
          <a:p>
            <a:pPr marL="16933">
              <a:lnSpc>
                <a:spcPct val="100000"/>
              </a:lnSpc>
              <a:spcBef>
                <a:spcPts val="467"/>
              </a:spcBef>
            </a:pPr>
            <a:r>
              <a:rPr sz="1867" spc="-7">
                <a:latin typeface="Arial"/>
                <a:cs typeface="Arial"/>
              </a:rPr>
              <a:t>Forschungsbereichsleiter</a:t>
            </a:r>
            <a:endParaRPr sz="1867">
              <a:latin typeface="Arial"/>
              <a:cs typeface="Arial"/>
            </a:endParaRPr>
          </a:p>
          <a:p>
            <a:pPr marL="16933" marR="6773">
              <a:lnSpc>
                <a:spcPct val="120000"/>
              </a:lnSpc>
            </a:pPr>
            <a:r>
              <a:rPr sz="1867" spc="-7">
                <a:latin typeface="Arial"/>
                <a:cs typeface="Arial"/>
              </a:rPr>
              <a:t>Human </a:t>
            </a:r>
            <a:r>
              <a:rPr sz="1867">
                <a:latin typeface="Arial"/>
                <a:cs typeface="Arial"/>
              </a:rPr>
              <a:t>Centered </a:t>
            </a:r>
            <a:r>
              <a:rPr sz="1867" spc="-7">
                <a:latin typeface="Arial"/>
                <a:cs typeface="Arial"/>
              </a:rPr>
              <a:t>Cyber Physical </a:t>
            </a:r>
            <a:r>
              <a:rPr sz="1867">
                <a:latin typeface="Arial"/>
                <a:cs typeface="Arial"/>
              </a:rPr>
              <a:t>Production and Assembly</a:t>
            </a:r>
            <a:r>
              <a:rPr sz="1867" spc="-293">
                <a:latin typeface="Arial"/>
                <a:cs typeface="Arial"/>
              </a:rPr>
              <a:t> </a:t>
            </a:r>
            <a:r>
              <a:rPr sz="1867" spc="-7">
                <a:latin typeface="Arial"/>
                <a:cs typeface="Arial"/>
              </a:rPr>
              <a:t>Systems  </a:t>
            </a:r>
            <a:r>
              <a:rPr sz="1867">
                <a:latin typeface="Arial"/>
                <a:cs typeface="Arial"/>
              </a:rPr>
              <a:t>(BMVIT </a:t>
            </a:r>
            <a:r>
              <a:rPr sz="1867" spc="-7">
                <a:latin typeface="Arial"/>
                <a:cs typeface="Arial"/>
              </a:rPr>
              <a:t>Stiftungsprofessur </a:t>
            </a:r>
            <a:r>
              <a:rPr sz="1867">
                <a:latin typeface="Arial"/>
                <a:cs typeface="Arial"/>
              </a:rPr>
              <a:t>für Industrie</a:t>
            </a:r>
            <a:r>
              <a:rPr sz="1867" spc="-220">
                <a:latin typeface="Arial"/>
                <a:cs typeface="Arial"/>
              </a:rPr>
              <a:t> </a:t>
            </a:r>
            <a:r>
              <a:rPr sz="1867">
                <a:latin typeface="Arial"/>
                <a:cs typeface="Arial"/>
              </a:rPr>
              <a:t>4.0)</a:t>
            </a:r>
          </a:p>
        </p:txBody>
      </p:sp>
      <p:sp>
        <p:nvSpPr>
          <p:cNvPr id="11" name="object 5"/>
          <p:cNvSpPr txBox="1"/>
          <p:nvPr/>
        </p:nvSpPr>
        <p:spPr>
          <a:xfrm>
            <a:off x="1186977" y="4423583"/>
            <a:ext cx="4136813" cy="1751889"/>
          </a:xfrm>
          <a:prstGeom prst="rect">
            <a:avLst/>
          </a:prstGeom>
        </p:spPr>
        <p:txBody>
          <a:bodyPr vert="horz" wrap="square" lIns="0" tIns="73659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579"/>
              </a:spcBef>
            </a:pPr>
            <a:r>
              <a:rPr sz="1867" spc="-27" err="1">
                <a:latin typeface="Arial"/>
                <a:cs typeface="Arial"/>
              </a:rPr>
              <a:t>Technische</a:t>
            </a:r>
            <a:r>
              <a:rPr sz="1867" spc="-27">
                <a:latin typeface="Arial"/>
                <a:cs typeface="Arial"/>
              </a:rPr>
              <a:t> </a:t>
            </a:r>
            <a:r>
              <a:rPr sz="1867" spc="-7">
                <a:latin typeface="Arial"/>
                <a:cs typeface="Arial"/>
              </a:rPr>
              <a:t>Universität</a:t>
            </a:r>
            <a:r>
              <a:rPr sz="1867" spc="-53">
                <a:latin typeface="Arial"/>
                <a:cs typeface="Arial"/>
              </a:rPr>
              <a:t> </a:t>
            </a:r>
            <a:r>
              <a:rPr sz="1867">
                <a:latin typeface="Arial"/>
                <a:cs typeface="Arial"/>
              </a:rPr>
              <a:t>Wien</a:t>
            </a:r>
          </a:p>
          <a:p>
            <a:pPr marL="16933" marR="6773">
              <a:lnSpc>
                <a:spcPts val="2693"/>
              </a:lnSpc>
              <a:spcBef>
                <a:spcPts val="160"/>
              </a:spcBef>
            </a:pPr>
            <a:r>
              <a:rPr sz="1867" spc="-7">
                <a:latin typeface="Arial"/>
                <a:cs typeface="Arial"/>
              </a:rPr>
              <a:t>Institut </a:t>
            </a:r>
            <a:r>
              <a:rPr sz="1867">
                <a:latin typeface="Arial"/>
                <a:cs typeface="Arial"/>
              </a:rPr>
              <a:t>für </a:t>
            </a:r>
            <a:r>
              <a:rPr sz="1867" spc="-7">
                <a:latin typeface="Arial"/>
                <a:cs typeface="Arial"/>
              </a:rPr>
              <a:t>Managementwissenschaften  Theresianumgasse </a:t>
            </a:r>
            <a:r>
              <a:rPr sz="1867">
                <a:latin typeface="Arial"/>
                <a:cs typeface="Arial"/>
              </a:rPr>
              <a:t>27, </a:t>
            </a:r>
            <a:r>
              <a:rPr sz="1867" spc="-7">
                <a:latin typeface="Arial"/>
                <a:cs typeface="Arial"/>
              </a:rPr>
              <a:t>A-1040 </a:t>
            </a:r>
            <a:r>
              <a:rPr sz="1867" spc="0">
                <a:latin typeface="Arial"/>
                <a:cs typeface="Arial"/>
              </a:rPr>
              <a:t>Wien  </a:t>
            </a:r>
            <a:r>
              <a:rPr sz="1867" spc="-27">
                <a:latin typeface="Arial"/>
                <a:cs typeface="Arial"/>
              </a:rPr>
              <a:t>Telefon: </a:t>
            </a:r>
            <a:r>
              <a:rPr sz="1867">
                <a:latin typeface="Arial"/>
                <a:cs typeface="Arial"/>
              </a:rPr>
              <a:t>+43 (1)</a:t>
            </a:r>
            <a:r>
              <a:rPr sz="1867" spc="-60">
                <a:latin typeface="Arial"/>
                <a:cs typeface="Arial"/>
              </a:rPr>
              <a:t> </a:t>
            </a:r>
            <a:r>
              <a:rPr sz="1867" spc="-7">
                <a:latin typeface="Arial"/>
                <a:cs typeface="Arial"/>
              </a:rPr>
              <a:t>58801-33054</a:t>
            </a:r>
            <a:endParaRPr sz="1867">
              <a:latin typeface="Arial"/>
              <a:cs typeface="Arial"/>
            </a:endParaRPr>
          </a:p>
          <a:p>
            <a:pPr marL="16933">
              <a:lnSpc>
                <a:spcPct val="100000"/>
              </a:lnSpc>
              <a:spcBef>
                <a:spcPts val="272"/>
              </a:spcBef>
            </a:pPr>
            <a:r>
              <a:rPr sz="1867" u="heavy" spc="-7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sebastian.schlund@tuwien.ac.at</a:t>
            </a:r>
            <a:endParaRPr sz="1867">
              <a:latin typeface="Arial"/>
              <a:cs typeface="Arial"/>
            </a:endParaRPr>
          </a:p>
        </p:txBody>
      </p:sp>
      <p:sp>
        <p:nvSpPr>
          <p:cNvPr id="12" name="object 6"/>
          <p:cNvSpPr/>
          <p:nvPr/>
        </p:nvSpPr>
        <p:spPr>
          <a:xfrm>
            <a:off x="8880309" y="1380193"/>
            <a:ext cx="2568448" cy="37104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8"/>
          <p:cNvSpPr/>
          <p:nvPr/>
        </p:nvSpPr>
        <p:spPr>
          <a:xfrm>
            <a:off x="3434202" y="3344187"/>
            <a:ext cx="1920239" cy="10017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9"/>
          <p:cNvSpPr/>
          <p:nvPr/>
        </p:nvSpPr>
        <p:spPr>
          <a:xfrm>
            <a:off x="1186978" y="3573805"/>
            <a:ext cx="2048255" cy="5425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46571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M_M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143004" y="6356352"/>
            <a:ext cx="2173817" cy="365125"/>
          </a:xfrm>
        </p:spPr>
        <p:txBody>
          <a:bodyPr/>
          <a:lstStyle>
            <a:lvl1pPr marL="0" algn="l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Model-Context-Protocol by Kristóf Varga-Balázs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311400" cy="365125"/>
          </a:xfrm>
        </p:spPr>
        <p:txBody>
          <a:bodyPr/>
          <a:lstStyle>
            <a:lvl1pPr marL="0" algn="r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7867CDA-4693-FC4B-B498-098FC17878A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feld 1"/>
          <p:cNvSpPr txBox="1"/>
          <p:nvPr/>
        </p:nvSpPr>
        <p:spPr>
          <a:xfrm>
            <a:off x="1143004" y="170544"/>
            <a:ext cx="329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/>
              <a:t>KONTAKT</a:t>
            </a:r>
          </a:p>
        </p:txBody>
      </p:sp>
      <p:sp>
        <p:nvSpPr>
          <p:cNvPr id="10" name="object 4"/>
          <p:cNvSpPr txBox="1"/>
          <p:nvPr/>
        </p:nvSpPr>
        <p:spPr>
          <a:xfrm>
            <a:off x="1142967" y="1380194"/>
            <a:ext cx="7185660" cy="1856684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567"/>
              </a:spcBef>
            </a:pPr>
            <a:r>
              <a:rPr lang="de-AT" sz="1867" spc="-40">
                <a:latin typeface="Arial"/>
                <a:cs typeface="Arial"/>
              </a:rPr>
              <a:t>Dipl.-Ing.</a:t>
            </a:r>
            <a:r>
              <a:rPr lang="de-AT" sz="1867" spc="-40" baseline="0">
                <a:latin typeface="Arial"/>
                <a:cs typeface="Arial"/>
              </a:rPr>
              <a:t> </a:t>
            </a:r>
            <a:r>
              <a:rPr sz="1867" spc="-13">
                <a:latin typeface="Arial"/>
                <a:cs typeface="Arial"/>
              </a:rPr>
              <a:t>Dr.</a:t>
            </a:r>
            <a:endParaRPr sz="1867">
              <a:latin typeface="Arial"/>
              <a:cs typeface="Arial"/>
            </a:endParaRPr>
          </a:p>
          <a:p>
            <a:pPr marL="16933">
              <a:lnSpc>
                <a:spcPct val="100000"/>
              </a:lnSpc>
              <a:spcBef>
                <a:spcPts val="627"/>
              </a:spcBef>
            </a:pPr>
            <a:r>
              <a:rPr lang="de-AT" sz="2667" b="1">
                <a:latin typeface="Arial"/>
                <a:cs typeface="Arial"/>
              </a:rPr>
              <a:t>Walter</a:t>
            </a:r>
            <a:r>
              <a:rPr lang="de-AT" sz="2667" b="1" baseline="0">
                <a:latin typeface="Arial"/>
                <a:cs typeface="Arial"/>
              </a:rPr>
              <a:t> Mayrhofer</a:t>
            </a:r>
            <a:endParaRPr sz="2667">
              <a:latin typeface="Arial"/>
              <a:cs typeface="Arial"/>
            </a:endParaRPr>
          </a:p>
          <a:p>
            <a:pPr marL="16933">
              <a:lnSpc>
                <a:spcPct val="100000"/>
              </a:lnSpc>
              <a:spcBef>
                <a:spcPts val="467"/>
              </a:spcBef>
            </a:pPr>
            <a:r>
              <a:rPr lang="de-AT" sz="1867" spc="-7">
                <a:latin typeface="Arial"/>
                <a:cs typeface="Arial"/>
              </a:rPr>
              <a:t>Wissenschaftlicher Mitarbeiter</a:t>
            </a:r>
            <a:endParaRPr sz="1867">
              <a:latin typeface="Arial"/>
              <a:cs typeface="Arial"/>
            </a:endParaRPr>
          </a:p>
          <a:p>
            <a:pPr marL="16933" marR="6773">
              <a:lnSpc>
                <a:spcPct val="120000"/>
              </a:lnSpc>
            </a:pPr>
            <a:r>
              <a:rPr sz="1867" spc="-7">
                <a:latin typeface="Arial"/>
                <a:cs typeface="Arial"/>
              </a:rPr>
              <a:t>Human </a:t>
            </a:r>
            <a:r>
              <a:rPr sz="1867">
                <a:latin typeface="Arial"/>
                <a:cs typeface="Arial"/>
              </a:rPr>
              <a:t>Centered </a:t>
            </a:r>
            <a:r>
              <a:rPr sz="1867" spc="-7">
                <a:latin typeface="Arial"/>
                <a:cs typeface="Arial"/>
              </a:rPr>
              <a:t>Cyber Physical </a:t>
            </a:r>
            <a:r>
              <a:rPr sz="1867">
                <a:latin typeface="Arial"/>
                <a:cs typeface="Arial"/>
              </a:rPr>
              <a:t>Production and Assembly</a:t>
            </a:r>
            <a:r>
              <a:rPr sz="1867" spc="-293">
                <a:latin typeface="Arial"/>
                <a:cs typeface="Arial"/>
              </a:rPr>
              <a:t> </a:t>
            </a:r>
            <a:r>
              <a:rPr sz="1867" spc="-7">
                <a:latin typeface="Arial"/>
                <a:cs typeface="Arial"/>
              </a:rPr>
              <a:t>Systems  </a:t>
            </a:r>
            <a:r>
              <a:rPr sz="1867">
                <a:latin typeface="Arial"/>
                <a:cs typeface="Arial"/>
              </a:rPr>
              <a:t>(BMVIT </a:t>
            </a:r>
            <a:r>
              <a:rPr sz="1867" spc="-7">
                <a:latin typeface="Arial"/>
                <a:cs typeface="Arial"/>
              </a:rPr>
              <a:t>Stiftungsprofessur </a:t>
            </a:r>
            <a:r>
              <a:rPr sz="1867">
                <a:latin typeface="Arial"/>
                <a:cs typeface="Arial"/>
              </a:rPr>
              <a:t>für Industrie</a:t>
            </a:r>
            <a:r>
              <a:rPr sz="1867" spc="-220">
                <a:latin typeface="Arial"/>
                <a:cs typeface="Arial"/>
              </a:rPr>
              <a:t> </a:t>
            </a:r>
            <a:r>
              <a:rPr sz="1867">
                <a:latin typeface="Arial"/>
                <a:cs typeface="Arial"/>
              </a:rPr>
              <a:t>4.0)</a:t>
            </a:r>
          </a:p>
        </p:txBody>
      </p:sp>
      <p:sp>
        <p:nvSpPr>
          <p:cNvPr id="11" name="object 5"/>
          <p:cNvSpPr txBox="1"/>
          <p:nvPr/>
        </p:nvSpPr>
        <p:spPr>
          <a:xfrm>
            <a:off x="1186977" y="4423583"/>
            <a:ext cx="4136813" cy="1751889"/>
          </a:xfrm>
          <a:prstGeom prst="rect">
            <a:avLst/>
          </a:prstGeom>
        </p:spPr>
        <p:txBody>
          <a:bodyPr vert="horz" wrap="square" lIns="0" tIns="73659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579"/>
              </a:spcBef>
            </a:pPr>
            <a:r>
              <a:rPr sz="1867" spc="-27" err="1">
                <a:latin typeface="Arial"/>
                <a:cs typeface="Arial"/>
              </a:rPr>
              <a:t>Technische</a:t>
            </a:r>
            <a:r>
              <a:rPr sz="1867" spc="-27">
                <a:latin typeface="Arial"/>
                <a:cs typeface="Arial"/>
              </a:rPr>
              <a:t> </a:t>
            </a:r>
            <a:r>
              <a:rPr sz="1867" spc="-7">
                <a:latin typeface="Arial"/>
                <a:cs typeface="Arial"/>
              </a:rPr>
              <a:t>Universität</a:t>
            </a:r>
            <a:r>
              <a:rPr sz="1867" spc="-53">
                <a:latin typeface="Arial"/>
                <a:cs typeface="Arial"/>
              </a:rPr>
              <a:t> </a:t>
            </a:r>
            <a:r>
              <a:rPr sz="1867">
                <a:latin typeface="Arial"/>
                <a:cs typeface="Arial"/>
              </a:rPr>
              <a:t>Wien</a:t>
            </a:r>
          </a:p>
          <a:p>
            <a:pPr marL="16933" marR="6773">
              <a:lnSpc>
                <a:spcPts val="2693"/>
              </a:lnSpc>
              <a:spcBef>
                <a:spcPts val="160"/>
              </a:spcBef>
            </a:pPr>
            <a:r>
              <a:rPr sz="1867" spc="-7">
                <a:latin typeface="Arial"/>
                <a:cs typeface="Arial"/>
              </a:rPr>
              <a:t>Institut </a:t>
            </a:r>
            <a:r>
              <a:rPr sz="1867">
                <a:latin typeface="Arial"/>
                <a:cs typeface="Arial"/>
              </a:rPr>
              <a:t>für </a:t>
            </a:r>
            <a:r>
              <a:rPr sz="1867" spc="-7">
                <a:latin typeface="Arial"/>
                <a:cs typeface="Arial"/>
              </a:rPr>
              <a:t>Managementwissenschaften  Theresianumgasse </a:t>
            </a:r>
            <a:r>
              <a:rPr sz="1867">
                <a:latin typeface="Arial"/>
                <a:cs typeface="Arial"/>
              </a:rPr>
              <a:t>27, </a:t>
            </a:r>
            <a:r>
              <a:rPr sz="1867" spc="-7">
                <a:latin typeface="Arial"/>
                <a:cs typeface="Arial"/>
              </a:rPr>
              <a:t>A-1040 </a:t>
            </a:r>
            <a:r>
              <a:rPr sz="1867" spc="0">
                <a:latin typeface="Arial"/>
                <a:cs typeface="Arial"/>
              </a:rPr>
              <a:t>Wien  </a:t>
            </a:r>
            <a:r>
              <a:rPr sz="1867" spc="-27">
                <a:latin typeface="Arial"/>
                <a:cs typeface="Arial"/>
              </a:rPr>
              <a:t>Telefon: </a:t>
            </a:r>
            <a:r>
              <a:rPr sz="1867">
                <a:latin typeface="Arial"/>
                <a:cs typeface="Arial"/>
              </a:rPr>
              <a:t>+43 (1)</a:t>
            </a:r>
            <a:r>
              <a:rPr sz="1867" spc="-60">
                <a:latin typeface="Arial"/>
                <a:cs typeface="Arial"/>
              </a:rPr>
              <a:t> </a:t>
            </a:r>
            <a:r>
              <a:rPr sz="1867" spc="-7">
                <a:latin typeface="Arial"/>
                <a:cs typeface="Arial"/>
              </a:rPr>
              <a:t>58801-330</a:t>
            </a:r>
            <a:r>
              <a:rPr lang="de-AT" sz="1867" spc="-7">
                <a:latin typeface="Arial"/>
                <a:cs typeface="Arial"/>
              </a:rPr>
              <a:t>55</a:t>
            </a:r>
            <a:endParaRPr sz="1867">
              <a:latin typeface="Arial"/>
              <a:cs typeface="Arial"/>
            </a:endParaRPr>
          </a:p>
          <a:p>
            <a:pPr marL="16933">
              <a:lnSpc>
                <a:spcPct val="100000"/>
              </a:lnSpc>
              <a:spcBef>
                <a:spcPts val="272"/>
              </a:spcBef>
            </a:pPr>
            <a:r>
              <a:rPr lang="de-AT" sz="1867" u="heavy" spc="-7" err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walter.mayrhofer</a:t>
            </a:r>
            <a:r>
              <a:rPr sz="1867" u="heavy" spc="-7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@tuwien.ac.at</a:t>
            </a:r>
            <a:endParaRPr sz="1867">
              <a:latin typeface="Arial"/>
              <a:cs typeface="Arial"/>
            </a:endParaRPr>
          </a:p>
        </p:txBody>
      </p:sp>
      <p:sp>
        <p:nvSpPr>
          <p:cNvPr id="14" name="object 8"/>
          <p:cNvSpPr/>
          <p:nvPr/>
        </p:nvSpPr>
        <p:spPr>
          <a:xfrm>
            <a:off x="3434202" y="3344187"/>
            <a:ext cx="1920239" cy="10017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9"/>
          <p:cNvSpPr/>
          <p:nvPr/>
        </p:nvSpPr>
        <p:spPr>
          <a:xfrm>
            <a:off x="1186978" y="3573805"/>
            <a:ext cx="2048255" cy="5425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63" r="10893"/>
          <a:stretch/>
        </p:blipFill>
        <p:spPr>
          <a:xfrm>
            <a:off x="8760855" y="1380194"/>
            <a:ext cx="2688299" cy="370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38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_M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143004" y="6356352"/>
            <a:ext cx="2173817" cy="365125"/>
          </a:xfrm>
        </p:spPr>
        <p:txBody>
          <a:bodyPr/>
          <a:lstStyle>
            <a:lvl1pPr marL="0" algn="l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Model-Context-Protocol by Kristóf Varga-Balázs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311400" cy="365125"/>
          </a:xfrm>
        </p:spPr>
        <p:txBody>
          <a:bodyPr/>
          <a:lstStyle>
            <a:lvl1pPr marL="0" algn="r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7867CDA-4693-FC4B-B498-098FC17878A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feld 1"/>
          <p:cNvSpPr txBox="1"/>
          <p:nvPr/>
        </p:nvSpPr>
        <p:spPr>
          <a:xfrm>
            <a:off x="1143004" y="170544"/>
            <a:ext cx="329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/>
              <a:t>KONTAKT</a:t>
            </a:r>
          </a:p>
        </p:txBody>
      </p:sp>
      <p:sp>
        <p:nvSpPr>
          <p:cNvPr id="10" name="object 4"/>
          <p:cNvSpPr txBox="1"/>
          <p:nvPr/>
        </p:nvSpPr>
        <p:spPr>
          <a:xfrm>
            <a:off x="1142967" y="1380194"/>
            <a:ext cx="7185660" cy="1492417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627"/>
              </a:spcBef>
            </a:pPr>
            <a:r>
              <a:rPr lang="de-AT" sz="2667" b="1">
                <a:latin typeface="Arial"/>
                <a:cs typeface="Arial"/>
              </a:rPr>
              <a:t>Patrick</a:t>
            </a:r>
            <a:r>
              <a:rPr lang="de-AT" sz="2667" b="1" baseline="0">
                <a:latin typeface="Arial"/>
                <a:cs typeface="Arial"/>
              </a:rPr>
              <a:t> Rupprecht, </a:t>
            </a:r>
            <a:r>
              <a:rPr lang="de-AT" sz="2667" b="1" baseline="0" err="1">
                <a:latin typeface="Arial"/>
                <a:cs typeface="Arial"/>
              </a:rPr>
              <a:t>MSc</a:t>
            </a:r>
            <a:r>
              <a:rPr lang="de-AT" sz="2667" b="1" baseline="0">
                <a:latin typeface="Arial"/>
                <a:cs typeface="Arial"/>
              </a:rPr>
              <a:t> </a:t>
            </a:r>
            <a:r>
              <a:rPr lang="de-AT" sz="2667" b="1" baseline="0" err="1">
                <a:latin typeface="Arial"/>
                <a:cs typeface="Arial"/>
              </a:rPr>
              <a:t>MSc</a:t>
            </a:r>
            <a:endParaRPr sz="2667">
              <a:latin typeface="Arial"/>
              <a:cs typeface="Arial"/>
            </a:endParaRPr>
          </a:p>
          <a:p>
            <a:pPr marL="16933">
              <a:lnSpc>
                <a:spcPct val="100000"/>
              </a:lnSpc>
              <a:spcBef>
                <a:spcPts val="467"/>
              </a:spcBef>
            </a:pPr>
            <a:r>
              <a:rPr lang="de-AT" sz="1867" spc="-7">
                <a:latin typeface="Arial"/>
                <a:cs typeface="Arial"/>
              </a:rPr>
              <a:t>Wissenschaftlicher Mitarbeiter</a:t>
            </a:r>
            <a:endParaRPr sz="1867">
              <a:latin typeface="Arial"/>
              <a:cs typeface="Arial"/>
            </a:endParaRPr>
          </a:p>
          <a:p>
            <a:pPr marL="16933" marR="6773">
              <a:lnSpc>
                <a:spcPct val="120000"/>
              </a:lnSpc>
            </a:pPr>
            <a:r>
              <a:rPr sz="1867" spc="-7">
                <a:latin typeface="Arial"/>
                <a:cs typeface="Arial"/>
              </a:rPr>
              <a:t>Human </a:t>
            </a:r>
            <a:r>
              <a:rPr sz="1867">
                <a:latin typeface="Arial"/>
                <a:cs typeface="Arial"/>
              </a:rPr>
              <a:t>Centered </a:t>
            </a:r>
            <a:r>
              <a:rPr sz="1867" spc="-7">
                <a:latin typeface="Arial"/>
                <a:cs typeface="Arial"/>
              </a:rPr>
              <a:t>Cyber Physical </a:t>
            </a:r>
            <a:r>
              <a:rPr sz="1867">
                <a:latin typeface="Arial"/>
                <a:cs typeface="Arial"/>
              </a:rPr>
              <a:t>Production and Assembly</a:t>
            </a:r>
            <a:r>
              <a:rPr sz="1867" spc="-293">
                <a:latin typeface="Arial"/>
                <a:cs typeface="Arial"/>
              </a:rPr>
              <a:t> </a:t>
            </a:r>
            <a:r>
              <a:rPr sz="1867" spc="-7">
                <a:latin typeface="Arial"/>
                <a:cs typeface="Arial"/>
              </a:rPr>
              <a:t>Systems  </a:t>
            </a:r>
            <a:r>
              <a:rPr sz="1867">
                <a:latin typeface="Arial"/>
                <a:cs typeface="Arial"/>
              </a:rPr>
              <a:t>(BMVIT </a:t>
            </a:r>
            <a:r>
              <a:rPr sz="1867" spc="-7">
                <a:latin typeface="Arial"/>
                <a:cs typeface="Arial"/>
              </a:rPr>
              <a:t>Stiftungsprofessur </a:t>
            </a:r>
            <a:r>
              <a:rPr sz="1867">
                <a:latin typeface="Arial"/>
                <a:cs typeface="Arial"/>
              </a:rPr>
              <a:t>für Industrie</a:t>
            </a:r>
            <a:r>
              <a:rPr sz="1867" spc="-220">
                <a:latin typeface="Arial"/>
                <a:cs typeface="Arial"/>
              </a:rPr>
              <a:t> </a:t>
            </a:r>
            <a:r>
              <a:rPr sz="1867">
                <a:latin typeface="Arial"/>
                <a:cs typeface="Arial"/>
              </a:rPr>
              <a:t>4.0)</a:t>
            </a:r>
          </a:p>
        </p:txBody>
      </p:sp>
      <p:sp>
        <p:nvSpPr>
          <p:cNvPr id="11" name="object 5"/>
          <p:cNvSpPr txBox="1"/>
          <p:nvPr/>
        </p:nvSpPr>
        <p:spPr>
          <a:xfrm>
            <a:off x="1145248" y="4086758"/>
            <a:ext cx="4136813" cy="1751889"/>
          </a:xfrm>
          <a:prstGeom prst="rect">
            <a:avLst/>
          </a:prstGeom>
        </p:spPr>
        <p:txBody>
          <a:bodyPr vert="horz" wrap="square" lIns="0" tIns="73659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579"/>
              </a:spcBef>
            </a:pPr>
            <a:r>
              <a:rPr sz="1867" spc="-27" err="1">
                <a:latin typeface="Arial"/>
                <a:cs typeface="Arial"/>
              </a:rPr>
              <a:t>Technische</a:t>
            </a:r>
            <a:r>
              <a:rPr sz="1867" spc="-27">
                <a:latin typeface="Arial"/>
                <a:cs typeface="Arial"/>
              </a:rPr>
              <a:t> </a:t>
            </a:r>
            <a:r>
              <a:rPr sz="1867" spc="-7">
                <a:latin typeface="Arial"/>
                <a:cs typeface="Arial"/>
              </a:rPr>
              <a:t>Universität</a:t>
            </a:r>
            <a:r>
              <a:rPr sz="1867" spc="-53">
                <a:latin typeface="Arial"/>
                <a:cs typeface="Arial"/>
              </a:rPr>
              <a:t> </a:t>
            </a:r>
            <a:r>
              <a:rPr sz="1867">
                <a:latin typeface="Arial"/>
                <a:cs typeface="Arial"/>
              </a:rPr>
              <a:t>Wien</a:t>
            </a:r>
          </a:p>
          <a:p>
            <a:pPr marL="16933" marR="6773">
              <a:lnSpc>
                <a:spcPts val="2693"/>
              </a:lnSpc>
              <a:spcBef>
                <a:spcPts val="160"/>
              </a:spcBef>
            </a:pPr>
            <a:r>
              <a:rPr sz="1867" spc="-7">
                <a:latin typeface="Arial"/>
                <a:cs typeface="Arial"/>
              </a:rPr>
              <a:t>Institut </a:t>
            </a:r>
            <a:r>
              <a:rPr sz="1867">
                <a:latin typeface="Arial"/>
                <a:cs typeface="Arial"/>
              </a:rPr>
              <a:t>für </a:t>
            </a:r>
            <a:r>
              <a:rPr sz="1867" spc="-7">
                <a:latin typeface="Arial"/>
                <a:cs typeface="Arial"/>
              </a:rPr>
              <a:t>Managementwissenschaften  Theresianumgasse </a:t>
            </a:r>
            <a:r>
              <a:rPr sz="1867">
                <a:latin typeface="Arial"/>
                <a:cs typeface="Arial"/>
              </a:rPr>
              <a:t>27, </a:t>
            </a:r>
            <a:r>
              <a:rPr sz="1867" spc="-7">
                <a:latin typeface="Arial"/>
                <a:cs typeface="Arial"/>
              </a:rPr>
              <a:t>A-1040 </a:t>
            </a:r>
            <a:r>
              <a:rPr sz="1867" spc="0">
                <a:latin typeface="Arial"/>
                <a:cs typeface="Arial"/>
              </a:rPr>
              <a:t>Wien  </a:t>
            </a:r>
            <a:r>
              <a:rPr sz="1867" spc="-27">
                <a:latin typeface="Arial"/>
                <a:cs typeface="Arial"/>
              </a:rPr>
              <a:t>Telefon: </a:t>
            </a:r>
            <a:r>
              <a:rPr sz="1867">
                <a:latin typeface="Arial"/>
                <a:cs typeface="Arial"/>
              </a:rPr>
              <a:t>+43 (1)</a:t>
            </a:r>
            <a:r>
              <a:rPr sz="1867" spc="-60">
                <a:latin typeface="Arial"/>
                <a:cs typeface="Arial"/>
              </a:rPr>
              <a:t> </a:t>
            </a:r>
            <a:r>
              <a:rPr sz="1867" spc="-7">
                <a:latin typeface="Arial"/>
                <a:cs typeface="Arial"/>
              </a:rPr>
              <a:t>58801-330</a:t>
            </a:r>
            <a:r>
              <a:rPr lang="de-AT" sz="1867" spc="-7">
                <a:latin typeface="Arial"/>
                <a:cs typeface="Arial"/>
              </a:rPr>
              <a:t>56</a:t>
            </a:r>
            <a:endParaRPr sz="1867">
              <a:latin typeface="Arial"/>
              <a:cs typeface="Arial"/>
            </a:endParaRPr>
          </a:p>
          <a:p>
            <a:pPr marL="16933">
              <a:lnSpc>
                <a:spcPct val="100000"/>
              </a:lnSpc>
              <a:spcBef>
                <a:spcPts val="272"/>
              </a:spcBef>
            </a:pPr>
            <a:r>
              <a:rPr lang="de-AT" sz="1867" u="heavy" spc="-7" err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patrick.rupprecht</a:t>
            </a:r>
            <a:r>
              <a:rPr sz="1867" u="heavy" spc="-7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@tuwien.ac.at</a:t>
            </a:r>
            <a:endParaRPr sz="1867">
              <a:latin typeface="Arial"/>
              <a:cs typeface="Arial"/>
            </a:endParaRPr>
          </a:p>
        </p:txBody>
      </p:sp>
      <p:sp>
        <p:nvSpPr>
          <p:cNvPr id="14" name="object 8"/>
          <p:cNvSpPr/>
          <p:nvPr/>
        </p:nvSpPr>
        <p:spPr>
          <a:xfrm>
            <a:off x="3392473" y="3007361"/>
            <a:ext cx="1920239" cy="10017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9"/>
          <p:cNvSpPr/>
          <p:nvPr/>
        </p:nvSpPr>
        <p:spPr>
          <a:xfrm>
            <a:off x="1145248" y="3236979"/>
            <a:ext cx="2048255" cy="5425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855" y="1425761"/>
            <a:ext cx="2688299" cy="36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56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alt blauer Rahmen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2967" y="1285860"/>
            <a:ext cx="9906069" cy="114300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142965" y="2571745"/>
            <a:ext cx="4667283" cy="3554419"/>
          </a:xfrm>
        </p:spPr>
        <p:txBody>
          <a:bodyPr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381752" y="2571745"/>
            <a:ext cx="4667283" cy="3554419"/>
          </a:xfrm>
        </p:spPr>
        <p:txBody>
          <a:bodyPr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1143002" y="6356351"/>
            <a:ext cx="2190751" cy="365125"/>
          </a:xfrm>
        </p:spPr>
        <p:txBody>
          <a:bodyPr/>
          <a:lstStyle>
            <a:lvl1pPr>
              <a:defRPr baseline="0">
                <a:solidFill>
                  <a:srgbClr val="00669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rgbClr val="00669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Model-Context-Protocol by Kristóf Varga-Balázs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311400" cy="365125"/>
          </a:xfrm>
        </p:spPr>
        <p:txBody>
          <a:bodyPr/>
          <a:lstStyle>
            <a:lvl1pPr>
              <a:defRPr baseline="0">
                <a:solidFill>
                  <a:srgbClr val="00669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17867CDA-4693-FC4B-B498-098FC1787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9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 blauer Rahmen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2966" y="1285860"/>
            <a:ext cx="9906069" cy="114300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142966" y="2571745"/>
            <a:ext cx="9906069" cy="3554419"/>
          </a:xfrm>
        </p:spPr>
        <p:txBody>
          <a:bodyPr/>
          <a:lstStyle>
            <a:lvl1pPr>
              <a:buNone/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143002" y="6356351"/>
            <a:ext cx="2173817" cy="365125"/>
          </a:xfrm>
        </p:spPr>
        <p:txBody>
          <a:bodyPr/>
          <a:lstStyle>
            <a:lvl1pPr marL="0" algn="l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Model-Context-Protocol by Kristóf Varga-Balázs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311400" cy="365125"/>
          </a:xfrm>
        </p:spPr>
        <p:txBody>
          <a:bodyPr/>
          <a:lstStyle>
            <a:lvl1pPr marL="0" algn="r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7867CDA-4693-FC4B-B498-098FC1787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9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Model-Context-Protocol by Kristóf Varga-Balázs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7CDA-4693-FC4B-B498-098FC17878A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295467" y="1028733"/>
            <a:ext cx="10176272" cy="1377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2133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Centered Cyber Physical Production and </a:t>
            </a:r>
            <a:r>
              <a:rPr lang="de-DE" sz="2133" b="1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Assembly</a:t>
            </a:r>
            <a:r>
              <a:rPr lang="de-DE" sz="2133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Systems</a:t>
            </a: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2133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Mensch-Maschine-Interaktion</a:t>
            </a: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4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BMK-Stiftungsprofessur für Industrie 4.0</a:t>
            </a:r>
          </a:p>
        </p:txBody>
      </p:sp>
      <p:grpSp>
        <p:nvGrpSpPr>
          <p:cNvPr id="9" name="Gruppieren 8"/>
          <p:cNvGrpSpPr/>
          <p:nvPr/>
        </p:nvGrpSpPr>
        <p:grpSpPr>
          <a:xfrm>
            <a:off x="1295466" y="2013735"/>
            <a:ext cx="8272531" cy="829539"/>
            <a:chOff x="2046757" y="1869672"/>
            <a:chExt cx="4592490" cy="460518"/>
          </a:xfrm>
        </p:grpSpPr>
        <p:pic>
          <p:nvPicPr>
            <p:cNvPr id="10" name="Grafik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1820" y="1869672"/>
              <a:ext cx="773383" cy="403391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6757" y="2056936"/>
              <a:ext cx="827294" cy="219248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55977" y="2132037"/>
              <a:ext cx="620450" cy="97908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83512" y="1918946"/>
              <a:ext cx="381956" cy="324036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81208" y="2045312"/>
              <a:ext cx="570913" cy="251675"/>
            </a:xfrm>
            <a:prstGeom prst="rect">
              <a:avLst/>
            </a:prstGeom>
          </p:spPr>
        </p:pic>
        <p:pic>
          <p:nvPicPr>
            <p:cNvPr id="15" name="Grafik 1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60132" y="2044589"/>
              <a:ext cx="879115" cy="285601"/>
            </a:xfrm>
            <a:prstGeom prst="rect">
              <a:avLst/>
            </a:prstGeom>
          </p:spPr>
        </p:pic>
      </p:grpSp>
      <p:grpSp>
        <p:nvGrpSpPr>
          <p:cNvPr id="25" name="Gruppieren 24"/>
          <p:cNvGrpSpPr/>
          <p:nvPr/>
        </p:nvGrpSpPr>
        <p:grpSpPr>
          <a:xfrm>
            <a:off x="3739113" y="4853498"/>
            <a:ext cx="5564732" cy="1323293"/>
            <a:chOff x="2783430" y="3551608"/>
            <a:chExt cx="4173549" cy="992470"/>
          </a:xfrm>
        </p:grpSpPr>
        <p:sp>
          <p:nvSpPr>
            <p:cNvPr id="18" name="Rectangle 5"/>
            <p:cNvSpPr>
              <a:spLocks noChangeArrowheads="1"/>
            </p:cNvSpPr>
            <p:nvPr/>
          </p:nvSpPr>
          <p:spPr bwMode="auto">
            <a:xfrm>
              <a:off x="2783430" y="3551609"/>
              <a:ext cx="1869293" cy="9924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endParaRPr lang="de-DE" sz="1333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r>
                <a:rPr lang="de-DE" sz="1333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Univ. Prof. Dr.-Ing. Dipl.-Ing.</a:t>
              </a:r>
            </a:p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r>
                <a:rPr lang="de-DE" sz="1333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Sebastian Schlund</a:t>
              </a:r>
            </a:p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r>
                <a:rPr lang="de-DE" sz="1333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+43 (1) 58801-33054</a:t>
              </a:r>
            </a:p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r>
                <a:rPr lang="de-DE" sz="1333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8"/>
                </a:rPr>
                <a:t>sebastian.schlund@tuwien.ac.at</a:t>
              </a:r>
              <a:endParaRPr lang="de-DE" sz="1333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endParaRPr lang="de-DE" sz="1333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>
              <a:off x="5087686" y="3551608"/>
              <a:ext cx="1869293" cy="9924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endParaRPr lang="de-DE" sz="1333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lvl="0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r>
                <a:rPr lang="de-DE" sz="1333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Dipl.-Ing. </a:t>
              </a:r>
            </a:p>
            <a:p>
              <a:pPr lvl="0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r>
                <a:rPr lang="de-DE" sz="1333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Tanja Zigart</a:t>
              </a:r>
              <a:endParaRPr lang="de-DE" sz="1333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r>
                <a:rPr lang="de-DE" sz="1333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+43 (1) 58801-33053</a:t>
              </a:r>
            </a:p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r>
                <a:rPr lang="de-DE" sz="1333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9"/>
                </a:rPr>
                <a:t>tanja.zigart@tuwien.ac.at</a:t>
              </a:r>
              <a:endParaRPr lang="de-DE" sz="1333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endParaRPr lang="de-DE" sz="1333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Rechteck 22"/>
          <p:cNvSpPr/>
          <p:nvPr/>
        </p:nvSpPr>
        <p:spPr>
          <a:xfrm>
            <a:off x="1775520" y="6139366"/>
            <a:ext cx="9504197" cy="276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333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Technische Universität Wien, Institut für Managementwissenschaften, </a:t>
            </a:r>
            <a:r>
              <a:rPr lang="de-DE" sz="1333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Theresianumgasse</a:t>
            </a:r>
            <a:r>
              <a:rPr lang="de-DE" sz="1333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27, A-1040 Wien</a:t>
            </a:r>
          </a:p>
        </p:txBody>
      </p:sp>
      <p:sp>
        <p:nvSpPr>
          <p:cNvPr id="24" name="Textfeld 23"/>
          <p:cNvSpPr txBox="1"/>
          <p:nvPr/>
        </p:nvSpPr>
        <p:spPr>
          <a:xfrm>
            <a:off x="1143004" y="170544"/>
            <a:ext cx="329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/>
              <a:t>CONTACT</a:t>
            </a:r>
          </a:p>
        </p:txBody>
      </p:sp>
      <p:pic>
        <p:nvPicPr>
          <p:cNvPr id="27" name="Grafik 26"/>
          <p:cNvPicPr>
            <a:picLocks noChangeAspect="1"/>
          </p:cNvPicPr>
          <p:nvPr/>
        </p:nvPicPr>
        <p:blipFill rotWithShape="1">
          <a:blip r:embed="rId10"/>
          <a:srcRect t="36560" r="26480" b="36560"/>
          <a:stretch/>
        </p:blipFill>
        <p:spPr>
          <a:xfrm>
            <a:off x="9940358" y="2388139"/>
            <a:ext cx="1531381" cy="417175"/>
          </a:xfrm>
          <a:prstGeom prst="rect">
            <a:avLst/>
          </a:prstGeom>
        </p:spPr>
      </p:pic>
      <p:pic>
        <p:nvPicPr>
          <p:cNvPr id="26" name="Grafik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1917" y="2117115"/>
            <a:ext cx="2122081" cy="862815"/>
          </a:xfrm>
          <a:prstGeom prst="rect">
            <a:avLst/>
          </a:prstGeom>
        </p:spPr>
      </p:pic>
      <p:pic>
        <p:nvPicPr>
          <p:cNvPr id="28" name="Grafik 27"/>
          <p:cNvPicPr>
            <a:picLocks noChangeAspect="1"/>
          </p:cNvPicPr>
          <p:nvPr/>
        </p:nvPicPr>
        <p:blipFill rotWithShape="1">
          <a:blip r:embed="rId12"/>
          <a:srcRect l="25681" t="4641" r="32320" b="24801"/>
          <a:stretch/>
        </p:blipFill>
        <p:spPr>
          <a:xfrm>
            <a:off x="3739113" y="2931301"/>
            <a:ext cx="1885439" cy="2111692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72" t="20601" r="36222" b="22000"/>
          <a:stretch/>
        </p:blipFill>
        <p:spPr>
          <a:xfrm>
            <a:off x="6811453" y="2937286"/>
            <a:ext cx="1920213" cy="212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092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Model-Context-Protocol by Kristóf Varga-Balázs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7CDA-4693-FC4B-B498-098FC17878A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295467" y="1028733"/>
            <a:ext cx="10176272" cy="1377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2133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Centered Cyber Physical Production and </a:t>
            </a:r>
            <a:r>
              <a:rPr lang="de-DE" sz="2133" b="1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Assembly</a:t>
            </a:r>
            <a:r>
              <a:rPr lang="de-DE" sz="2133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Systems</a:t>
            </a: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2133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Human-</a:t>
            </a:r>
            <a:r>
              <a:rPr lang="de-DE" sz="2133" b="1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</a:t>
            </a:r>
            <a:r>
              <a:rPr lang="de-DE" sz="2133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-Interaction</a:t>
            </a: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4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BMK-Stiftungsprofessur für Industrie 4.0</a:t>
            </a:r>
          </a:p>
        </p:txBody>
      </p:sp>
      <p:grpSp>
        <p:nvGrpSpPr>
          <p:cNvPr id="9" name="Gruppieren 8"/>
          <p:cNvGrpSpPr/>
          <p:nvPr/>
        </p:nvGrpSpPr>
        <p:grpSpPr>
          <a:xfrm>
            <a:off x="1295466" y="2013735"/>
            <a:ext cx="8272531" cy="829539"/>
            <a:chOff x="2046757" y="1869672"/>
            <a:chExt cx="4592490" cy="460518"/>
          </a:xfrm>
        </p:grpSpPr>
        <p:pic>
          <p:nvPicPr>
            <p:cNvPr id="10" name="Grafik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1820" y="1869672"/>
              <a:ext cx="773383" cy="403391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6757" y="2056936"/>
              <a:ext cx="827294" cy="219248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55977" y="2132037"/>
              <a:ext cx="620450" cy="97908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83512" y="1918946"/>
              <a:ext cx="381956" cy="324036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81208" y="2045312"/>
              <a:ext cx="570913" cy="251675"/>
            </a:xfrm>
            <a:prstGeom prst="rect">
              <a:avLst/>
            </a:prstGeom>
          </p:spPr>
        </p:pic>
        <p:pic>
          <p:nvPicPr>
            <p:cNvPr id="15" name="Grafik 1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60132" y="2044589"/>
              <a:ext cx="879115" cy="285601"/>
            </a:xfrm>
            <a:prstGeom prst="rect">
              <a:avLst/>
            </a:prstGeom>
          </p:spPr>
        </p:pic>
      </p:grpSp>
      <p:grpSp>
        <p:nvGrpSpPr>
          <p:cNvPr id="25" name="Gruppieren 24"/>
          <p:cNvGrpSpPr/>
          <p:nvPr/>
        </p:nvGrpSpPr>
        <p:grpSpPr>
          <a:xfrm>
            <a:off x="2739514" y="4853498"/>
            <a:ext cx="5372711" cy="1323293"/>
            <a:chOff x="2783430" y="3551608"/>
            <a:chExt cx="4029533" cy="992470"/>
          </a:xfrm>
        </p:grpSpPr>
        <p:sp>
          <p:nvSpPr>
            <p:cNvPr id="18" name="Rectangle 5"/>
            <p:cNvSpPr>
              <a:spLocks noChangeArrowheads="1"/>
            </p:cNvSpPr>
            <p:nvPr/>
          </p:nvSpPr>
          <p:spPr bwMode="auto">
            <a:xfrm>
              <a:off x="2783430" y="3551609"/>
              <a:ext cx="1869293" cy="9924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endParaRPr lang="de-DE" sz="1333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r>
                <a:rPr lang="de-DE" sz="1333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Univ. Prof. Dr.-Ing. Dipl.-Ing.</a:t>
              </a:r>
            </a:p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r>
                <a:rPr lang="de-DE" sz="1333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Sebastian Schlund</a:t>
              </a:r>
            </a:p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r>
                <a:rPr lang="de-DE" sz="1333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+43 (1) 58801-33054</a:t>
              </a:r>
            </a:p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r>
                <a:rPr lang="de-DE" sz="1333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8"/>
                </a:rPr>
                <a:t>sebastian.schlund@tuwien.ac.at</a:t>
              </a:r>
              <a:endParaRPr lang="de-DE" sz="1333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endParaRPr lang="de-DE" sz="1333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>
              <a:off x="4943670" y="3551608"/>
              <a:ext cx="1869293" cy="9924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endParaRPr lang="de-DE" sz="1333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lvl="0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r>
                <a:rPr lang="de-DE" sz="1333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Dipl.-Ing. </a:t>
              </a:r>
            </a:p>
            <a:p>
              <a:pPr lvl="0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r>
                <a:rPr lang="de-DE" sz="1333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Tanja Zigart</a:t>
              </a:r>
              <a:endParaRPr lang="de-DE" sz="1333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r>
                <a:rPr lang="de-DE" sz="1333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+43 (1) 58801-33053</a:t>
              </a:r>
            </a:p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r>
                <a:rPr lang="de-DE" sz="1333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9"/>
                </a:rPr>
                <a:t>tanja.zigart@tuwien.ac.at</a:t>
              </a:r>
              <a:endParaRPr lang="de-DE" sz="1333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914377">
                <a:lnSpc>
                  <a:spcPct val="90000"/>
                </a:lnSpc>
                <a:spcBef>
                  <a:spcPct val="30000"/>
                </a:spcBef>
                <a:buClr>
                  <a:srgbClr val="179C7D"/>
                </a:buClr>
                <a:defRPr/>
              </a:pPr>
              <a:endParaRPr lang="de-DE" sz="1333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Rechteck 22"/>
          <p:cNvSpPr/>
          <p:nvPr/>
        </p:nvSpPr>
        <p:spPr>
          <a:xfrm>
            <a:off x="1775520" y="6139366"/>
            <a:ext cx="9504197" cy="276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333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Technische Universität Wien, Institut für Managementwissenschaften, </a:t>
            </a:r>
            <a:r>
              <a:rPr lang="de-DE" sz="1333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Theresianumgasse</a:t>
            </a:r>
            <a:r>
              <a:rPr lang="de-DE" sz="1333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27, A-1040 Wien</a:t>
            </a:r>
          </a:p>
        </p:txBody>
      </p:sp>
      <p:sp>
        <p:nvSpPr>
          <p:cNvPr id="24" name="Textfeld 23"/>
          <p:cNvSpPr txBox="1"/>
          <p:nvPr/>
        </p:nvSpPr>
        <p:spPr>
          <a:xfrm>
            <a:off x="1143004" y="170544"/>
            <a:ext cx="329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/>
              <a:t>CONTACT</a:t>
            </a:r>
          </a:p>
        </p:txBody>
      </p:sp>
      <p:pic>
        <p:nvPicPr>
          <p:cNvPr id="27" name="Grafik 26"/>
          <p:cNvPicPr>
            <a:picLocks noChangeAspect="1"/>
          </p:cNvPicPr>
          <p:nvPr/>
        </p:nvPicPr>
        <p:blipFill rotWithShape="1">
          <a:blip r:embed="rId10"/>
          <a:srcRect t="36560" r="26480" b="36560"/>
          <a:stretch/>
        </p:blipFill>
        <p:spPr>
          <a:xfrm>
            <a:off x="9940358" y="2388139"/>
            <a:ext cx="1531381" cy="417175"/>
          </a:xfrm>
          <a:prstGeom prst="rect">
            <a:avLst/>
          </a:prstGeom>
        </p:spPr>
      </p:pic>
      <p:pic>
        <p:nvPicPr>
          <p:cNvPr id="26" name="Grafik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1917" y="2117115"/>
            <a:ext cx="2122081" cy="862815"/>
          </a:xfrm>
          <a:prstGeom prst="rect">
            <a:avLst/>
          </a:prstGeom>
        </p:spPr>
      </p:pic>
      <p:pic>
        <p:nvPicPr>
          <p:cNvPr id="28" name="Grafik 27"/>
          <p:cNvPicPr>
            <a:picLocks noChangeAspect="1"/>
          </p:cNvPicPr>
          <p:nvPr/>
        </p:nvPicPr>
        <p:blipFill rotWithShape="1">
          <a:blip r:embed="rId12"/>
          <a:srcRect l="25681" t="4641" r="32320" b="24801"/>
          <a:stretch/>
        </p:blipFill>
        <p:spPr>
          <a:xfrm>
            <a:off x="2739514" y="2931301"/>
            <a:ext cx="1885439" cy="2111692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72" t="20601" r="36222" b="22000"/>
          <a:stretch/>
        </p:blipFill>
        <p:spPr>
          <a:xfrm>
            <a:off x="5615947" y="2937286"/>
            <a:ext cx="1920213" cy="2129881"/>
          </a:xfrm>
          <a:prstGeom prst="rect">
            <a:avLst/>
          </a:prstGeom>
        </p:spPr>
      </p:pic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8506465" y="4850266"/>
            <a:ext cx="2851331" cy="1323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endParaRPr lang="de-DE" sz="1333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endParaRPr lang="de-DE" sz="1333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333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Felix </a:t>
            </a:r>
            <a:r>
              <a:rPr lang="de-DE" sz="1333" b="1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Stürzl</a:t>
            </a:r>
            <a:endParaRPr lang="de-DE" sz="1333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endParaRPr lang="de-DE" sz="1333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hlinkClick r:id="rId14"/>
            </a:endParaRP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333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Felix.stuerzl@tuwien.ac.at </a:t>
            </a: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endParaRPr lang="de-DE" sz="1333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Grafik 29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39" r="15829"/>
          <a:stretch/>
        </p:blipFill>
        <p:spPr>
          <a:xfrm>
            <a:off x="8500153" y="2931301"/>
            <a:ext cx="1992147" cy="213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0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BS_M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143004" y="6356352"/>
            <a:ext cx="2173817" cy="365125"/>
          </a:xfrm>
        </p:spPr>
        <p:txBody>
          <a:bodyPr/>
          <a:lstStyle>
            <a:lvl1pPr marL="0" algn="l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Model-Context-Protocol by Kristóf Varga-Balázs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311400" cy="365125"/>
          </a:xfrm>
        </p:spPr>
        <p:txBody>
          <a:bodyPr/>
          <a:lstStyle>
            <a:lvl1pPr marL="0" algn="r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7867CDA-4693-FC4B-B498-098FC17878A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feld 1"/>
          <p:cNvSpPr txBox="1"/>
          <p:nvPr/>
        </p:nvSpPr>
        <p:spPr>
          <a:xfrm>
            <a:off x="1143004" y="170544"/>
            <a:ext cx="329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 dirty="0"/>
              <a:t>Contact</a:t>
            </a:r>
          </a:p>
        </p:txBody>
      </p:sp>
      <p:sp>
        <p:nvSpPr>
          <p:cNvPr id="10" name="object 4"/>
          <p:cNvSpPr txBox="1"/>
          <p:nvPr/>
        </p:nvSpPr>
        <p:spPr>
          <a:xfrm>
            <a:off x="1142967" y="1380194"/>
            <a:ext cx="7185660" cy="1856684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567"/>
              </a:spcBef>
            </a:pPr>
            <a:r>
              <a:rPr sz="1867" spc="-40" dirty="0">
                <a:latin typeface="Arial"/>
                <a:cs typeface="Arial"/>
              </a:rPr>
              <a:t>Univ. </a:t>
            </a:r>
            <a:r>
              <a:rPr sz="1867" dirty="0">
                <a:latin typeface="Arial"/>
                <a:cs typeface="Arial"/>
              </a:rPr>
              <a:t>Prof. </a:t>
            </a:r>
            <a:r>
              <a:rPr sz="1867" spc="-13" dirty="0">
                <a:latin typeface="Arial"/>
                <a:cs typeface="Arial"/>
              </a:rPr>
              <a:t>Dr.-Ing.</a:t>
            </a:r>
            <a:endParaRPr sz="1867" dirty="0">
              <a:latin typeface="Arial"/>
              <a:cs typeface="Arial"/>
            </a:endParaRPr>
          </a:p>
          <a:p>
            <a:pPr marL="16933">
              <a:lnSpc>
                <a:spcPct val="100000"/>
              </a:lnSpc>
              <a:spcBef>
                <a:spcPts val="627"/>
              </a:spcBef>
            </a:pPr>
            <a:r>
              <a:rPr sz="2667" b="1" dirty="0">
                <a:latin typeface="Arial"/>
                <a:cs typeface="Arial"/>
              </a:rPr>
              <a:t>Sebastian</a:t>
            </a:r>
            <a:r>
              <a:rPr sz="2667" b="1" spc="-40" dirty="0">
                <a:latin typeface="Arial"/>
                <a:cs typeface="Arial"/>
              </a:rPr>
              <a:t> </a:t>
            </a:r>
            <a:r>
              <a:rPr sz="2667" b="1" dirty="0">
                <a:latin typeface="Arial"/>
                <a:cs typeface="Arial"/>
              </a:rPr>
              <a:t>Schlund</a:t>
            </a:r>
            <a:endParaRPr sz="2667" dirty="0">
              <a:latin typeface="Arial"/>
              <a:cs typeface="Arial"/>
            </a:endParaRPr>
          </a:p>
          <a:p>
            <a:pPr marL="16933">
              <a:lnSpc>
                <a:spcPct val="100000"/>
              </a:lnSpc>
              <a:spcBef>
                <a:spcPts val="467"/>
              </a:spcBef>
            </a:pPr>
            <a:r>
              <a:rPr sz="1867" spc="-7" dirty="0">
                <a:latin typeface="Arial"/>
                <a:cs typeface="Arial"/>
              </a:rPr>
              <a:t>Forschungsbereichsleiter</a:t>
            </a:r>
            <a:endParaRPr sz="1867" dirty="0">
              <a:latin typeface="Arial"/>
              <a:cs typeface="Arial"/>
            </a:endParaRPr>
          </a:p>
          <a:p>
            <a:pPr marL="16933" marR="6773">
              <a:lnSpc>
                <a:spcPct val="120000"/>
              </a:lnSpc>
            </a:pPr>
            <a:r>
              <a:rPr sz="1867" spc="-7" dirty="0">
                <a:latin typeface="Arial"/>
                <a:cs typeface="Arial"/>
              </a:rPr>
              <a:t>Human </a:t>
            </a:r>
            <a:r>
              <a:rPr sz="1867" dirty="0">
                <a:latin typeface="Arial"/>
                <a:cs typeface="Arial"/>
              </a:rPr>
              <a:t>Centered </a:t>
            </a:r>
            <a:r>
              <a:rPr sz="1867" spc="-7" dirty="0">
                <a:latin typeface="Arial"/>
                <a:cs typeface="Arial"/>
              </a:rPr>
              <a:t>Cyber Physical </a:t>
            </a:r>
            <a:r>
              <a:rPr sz="1867" dirty="0">
                <a:latin typeface="Arial"/>
                <a:cs typeface="Arial"/>
              </a:rPr>
              <a:t>Production and Assembly</a:t>
            </a:r>
            <a:r>
              <a:rPr sz="1867" spc="-293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Systems  </a:t>
            </a:r>
            <a:r>
              <a:rPr sz="1867" dirty="0">
                <a:latin typeface="Arial"/>
                <a:cs typeface="Arial"/>
              </a:rPr>
              <a:t>(BMVIT </a:t>
            </a:r>
            <a:r>
              <a:rPr sz="1867" spc="-7" dirty="0">
                <a:latin typeface="Arial"/>
                <a:cs typeface="Arial"/>
              </a:rPr>
              <a:t>Stiftungsprofessur </a:t>
            </a:r>
            <a:r>
              <a:rPr sz="1867" dirty="0">
                <a:latin typeface="Arial"/>
                <a:cs typeface="Arial"/>
              </a:rPr>
              <a:t>für Industrie</a:t>
            </a:r>
            <a:r>
              <a:rPr sz="1867" spc="-22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4.0)</a:t>
            </a:r>
          </a:p>
        </p:txBody>
      </p:sp>
      <p:sp>
        <p:nvSpPr>
          <p:cNvPr id="11" name="object 5"/>
          <p:cNvSpPr txBox="1"/>
          <p:nvPr/>
        </p:nvSpPr>
        <p:spPr>
          <a:xfrm>
            <a:off x="1186977" y="4423583"/>
            <a:ext cx="4136813" cy="1751889"/>
          </a:xfrm>
          <a:prstGeom prst="rect">
            <a:avLst/>
          </a:prstGeom>
        </p:spPr>
        <p:txBody>
          <a:bodyPr vert="horz" wrap="square" lIns="0" tIns="73659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579"/>
              </a:spcBef>
            </a:pPr>
            <a:r>
              <a:rPr sz="1867" spc="-27" dirty="0" err="1">
                <a:latin typeface="Arial"/>
                <a:cs typeface="Arial"/>
              </a:rPr>
              <a:t>Technische</a:t>
            </a:r>
            <a:r>
              <a:rPr sz="1867" spc="-2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Universität</a:t>
            </a:r>
            <a:r>
              <a:rPr sz="1867" spc="-5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Wien</a:t>
            </a:r>
          </a:p>
          <a:p>
            <a:pPr marL="16933" marR="6773">
              <a:lnSpc>
                <a:spcPts val="2693"/>
              </a:lnSpc>
              <a:spcBef>
                <a:spcPts val="160"/>
              </a:spcBef>
            </a:pPr>
            <a:r>
              <a:rPr sz="1867" spc="-7" dirty="0">
                <a:latin typeface="Arial"/>
                <a:cs typeface="Arial"/>
              </a:rPr>
              <a:t>Institut </a:t>
            </a:r>
            <a:r>
              <a:rPr sz="1867" dirty="0">
                <a:latin typeface="Arial"/>
                <a:cs typeface="Arial"/>
              </a:rPr>
              <a:t>für </a:t>
            </a:r>
            <a:r>
              <a:rPr sz="1867" spc="-7" dirty="0">
                <a:latin typeface="Arial"/>
                <a:cs typeface="Arial"/>
              </a:rPr>
              <a:t>Managementwissenschaften  Theresianumgasse </a:t>
            </a:r>
            <a:r>
              <a:rPr sz="1867" dirty="0">
                <a:latin typeface="Arial"/>
                <a:cs typeface="Arial"/>
              </a:rPr>
              <a:t>27, </a:t>
            </a:r>
            <a:r>
              <a:rPr sz="1867" spc="-7" dirty="0">
                <a:latin typeface="Arial"/>
                <a:cs typeface="Arial"/>
              </a:rPr>
              <a:t>A-1040 </a:t>
            </a:r>
            <a:r>
              <a:rPr sz="1867" spc="0" dirty="0">
                <a:latin typeface="Arial"/>
                <a:cs typeface="Arial"/>
              </a:rPr>
              <a:t>Wien  </a:t>
            </a:r>
            <a:r>
              <a:rPr sz="1867" spc="-27" dirty="0">
                <a:latin typeface="Arial"/>
                <a:cs typeface="Arial"/>
              </a:rPr>
              <a:t>Telefon: </a:t>
            </a:r>
            <a:r>
              <a:rPr sz="1867" dirty="0">
                <a:latin typeface="Arial"/>
                <a:cs typeface="Arial"/>
              </a:rPr>
              <a:t>+43 (1)</a:t>
            </a:r>
            <a:r>
              <a:rPr sz="1867" spc="-60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58801-33054</a:t>
            </a:r>
            <a:endParaRPr sz="1867" dirty="0">
              <a:latin typeface="Arial"/>
              <a:cs typeface="Arial"/>
            </a:endParaRPr>
          </a:p>
          <a:p>
            <a:pPr marL="16933">
              <a:lnSpc>
                <a:spcPct val="100000"/>
              </a:lnSpc>
              <a:spcBef>
                <a:spcPts val="272"/>
              </a:spcBef>
            </a:pPr>
            <a:r>
              <a:rPr sz="1867" u="heavy" spc="-7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sebastian.schlund@tuwien.ac.at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12" name="object 6"/>
          <p:cNvSpPr/>
          <p:nvPr/>
        </p:nvSpPr>
        <p:spPr>
          <a:xfrm>
            <a:off x="8880309" y="1380193"/>
            <a:ext cx="2568448" cy="37104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8"/>
          <p:cNvSpPr/>
          <p:nvPr/>
        </p:nvSpPr>
        <p:spPr>
          <a:xfrm>
            <a:off x="3434202" y="3344187"/>
            <a:ext cx="1920239" cy="10017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9"/>
          <p:cNvSpPr/>
          <p:nvPr/>
        </p:nvSpPr>
        <p:spPr>
          <a:xfrm>
            <a:off x="1186978" y="3573805"/>
            <a:ext cx="2048255" cy="5425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2140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WAM_M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143004" y="6356352"/>
            <a:ext cx="2173817" cy="365125"/>
          </a:xfrm>
        </p:spPr>
        <p:txBody>
          <a:bodyPr/>
          <a:lstStyle>
            <a:lvl1pPr marL="0" algn="l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Model-Context-Protocol by Kristóf Varga-Balázs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311400" cy="365125"/>
          </a:xfrm>
        </p:spPr>
        <p:txBody>
          <a:bodyPr/>
          <a:lstStyle>
            <a:lvl1pPr marL="0" algn="r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7867CDA-4693-FC4B-B498-098FC17878A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feld 1"/>
          <p:cNvSpPr txBox="1"/>
          <p:nvPr/>
        </p:nvSpPr>
        <p:spPr>
          <a:xfrm>
            <a:off x="1143004" y="170544"/>
            <a:ext cx="329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 dirty="0"/>
              <a:t>Contact</a:t>
            </a:r>
          </a:p>
        </p:txBody>
      </p:sp>
      <p:sp>
        <p:nvSpPr>
          <p:cNvPr id="10" name="object 4"/>
          <p:cNvSpPr txBox="1"/>
          <p:nvPr/>
        </p:nvSpPr>
        <p:spPr>
          <a:xfrm>
            <a:off x="1142967" y="1380194"/>
            <a:ext cx="7185660" cy="1856684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567"/>
              </a:spcBef>
            </a:pPr>
            <a:r>
              <a:rPr lang="de-AT" sz="1867" spc="-40" dirty="0">
                <a:latin typeface="Arial"/>
                <a:cs typeface="Arial"/>
              </a:rPr>
              <a:t>Dipl</a:t>
            </a:r>
            <a:r>
              <a:rPr lang="de-AT" sz="1867" spc="-40">
                <a:latin typeface="Arial"/>
                <a:cs typeface="Arial"/>
              </a:rPr>
              <a:t>.-Ing.</a:t>
            </a:r>
            <a:r>
              <a:rPr lang="de-AT" sz="1867" spc="-40" baseline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Dr.</a:t>
            </a:r>
            <a:endParaRPr sz="1867" dirty="0">
              <a:latin typeface="Arial"/>
              <a:cs typeface="Arial"/>
            </a:endParaRPr>
          </a:p>
          <a:p>
            <a:pPr marL="16933">
              <a:lnSpc>
                <a:spcPct val="100000"/>
              </a:lnSpc>
              <a:spcBef>
                <a:spcPts val="627"/>
              </a:spcBef>
            </a:pPr>
            <a:r>
              <a:rPr lang="de-AT" sz="2667" b="1" dirty="0">
                <a:latin typeface="Arial"/>
                <a:cs typeface="Arial"/>
              </a:rPr>
              <a:t>Walter</a:t>
            </a:r>
            <a:r>
              <a:rPr lang="de-AT" sz="2667" b="1" baseline="0" dirty="0">
                <a:latin typeface="Arial"/>
                <a:cs typeface="Arial"/>
              </a:rPr>
              <a:t> Mayrhofer</a:t>
            </a:r>
            <a:endParaRPr sz="2667" dirty="0">
              <a:latin typeface="Arial"/>
              <a:cs typeface="Arial"/>
            </a:endParaRPr>
          </a:p>
          <a:p>
            <a:pPr marL="16933">
              <a:lnSpc>
                <a:spcPct val="100000"/>
              </a:lnSpc>
              <a:spcBef>
                <a:spcPts val="467"/>
              </a:spcBef>
            </a:pPr>
            <a:r>
              <a:rPr lang="de-AT" sz="1867" spc="-7" dirty="0">
                <a:latin typeface="Arial"/>
                <a:cs typeface="Arial"/>
              </a:rPr>
              <a:t>Wissenschaftlicher Mitarbeiter</a:t>
            </a:r>
            <a:endParaRPr sz="1867" dirty="0">
              <a:latin typeface="Arial"/>
              <a:cs typeface="Arial"/>
            </a:endParaRPr>
          </a:p>
          <a:p>
            <a:pPr marL="16933" marR="6773">
              <a:lnSpc>
                <a:spcPct val="120000"/>
              </a:lnSpc>
            </a:pPr>
            <a:r>
              <a:rPr sz="1867" spc="-7" dirty="0">
                <a:latin typeface="Arial"/>
                <a:cs typeface="Arial"/>
              </a:rPr>
              <a:t>Human </a:t>
            </a:r>
            <a:r>
              <a:rPr sz="1867" dirty="0">
                <a:latin typeface="Arial"/>
                <a:cs typeface="Arial"/>
              </a:rPr>
              <a:t>Centered </a:t>
            </a:r>
            <a:r>
              <a:rPr sz="1867" spc="-7" dirty="0">
                <a:latin typeface="Arial"/>
                <a:cs typeface="Arial"/>
              </a:rPr>
              <a:t>Cyber Physical </a:t>
            </a:r>
            <a:r>
              <a:rPr sz="1867" dirty="0">
                <a:latin typeface="Arial"/>
                <a:cs typeface="Arial"/>
              </a:rPr>
              <a:t>Production and Assembly</a:t>
            </a:r>
            <a:r>
              <a:rPr sz="1867" spc="-293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Systems  </a:t>
            </a:r>
            <a:r>
              <a:rPr sz="1867" dirty="0">
                <a:latin typeface="Arial"/>
                <a:cs typeface="Arial"/>
              </a:rPr>
              <a:t>(BMVIT </a:t>
            </a:r>
            <a:r>
              <a:rPr sz="1867" spc="-7" dirty="0">
                <a:latin typeface="Arial"/>
                <a:cs typeface="Arial"/>
              </a:rPr>
              <a:t>Stiftungsprofessur </a:t>
            </a:r>
            <a:r>
              <a:rPr sz="1867" dirty="0">
                <a:latin typeface="Arial"/>
                <a:cs typeface="Arial"/>
              </a:rPr>
              <a:t>für Industrie</a:t>
            </a:r>
            <a:r>
              <a:rPr sz="1867" spc="-22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4.0)</a:t>
            </a:r>
          </a:p>
        </p:txBody>
      </p:sp>
      <p:sp>
        <p:nvSpPr>
          <p:cNvPr id="11" name="object 5"/>
          <p:cNvSpPr txBox="1"/>
          <p:nvPr/>
        </p:nvSpPr>
        <p:spPr>
          <a:xfrm>
            <a:off x="1186977" y="4423583"/>
            <a:ext cx="4136813" cy="1751889"/>
          </a:xfrm>
          <a:prstGeom prst="rect">
            <a:avLst/>
          </a:prstGeom>
        </p:spPr>
        <p:txBody>
          <a:bodyPr vert="horz" wrap="square" lIns="0" tIns="73659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579"/>
              </a:spcBef>
            </a:pPr>
            <a:r>
              <a:rPr sz="1867" spc="-27" dirty="0" err="1">
                <a:latin typeface="Arial"/>
                <a:cs typeface="Arial"/>
              </a:rPr>
              <a:t>Technische</a:t>
            </a:r>
            <a:r>
              <a:rPr sz="1867" spc="-2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Universität</a:t>
            </a:r>
            <a:r>
              <a:rPr sz="1867" spc="-5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Wien</a:t>
            </a:r>
          </a:p>
          <a:p>
            <a:pPr marL="16933" marR="6773">
              <a:lnSpc>
                <a:spcPts val="2693"/>
              </a:lnSpc>
              <a:spcBef>
                <a:spcPts val="160"/>
              </a:spcBef>
            </a:pPr>
            <a:r>
              <a:rPr sz="1867" spc="-7" dirty="0">
                <a:latin typeface="Arial"/>
                <a:cs typeface="Arial"/>
              </a:rPr>
              <a:t>Institut </a:t>
            </a:r>
            <a:r>
              <a:rPr sz="1867" dirty="0">
                <a:latin typeface="Arial"/>
                <a:cs typeface="Arial"/>
              </a:rPr>
              <a:t>für </a:t>
            </a:r>
            <a:r>
              <a:rPr sz="1867" spc="-7" dirty="0">
                <a:latin typeface="Arial"/>
                <a:cs typeface="Arial"/>
              </a:rPr>
              <a:t>Managementwissenschaften  Theresianumgasse </a:t>
            </a:r>
            <a:r>
              <a:rPr sz="1867" dirty="0">
                <a:latin typeface="Arial"/>
                <a:cs typeface="Arial"/>
              </a:rPr>
              <a:t>27, </a:t>
            </a:r>
            <a:r>
              <a:rPr sz="1867" spc="-7" dirty="0">
                <a:latin typeface="Arial"/>
                <a:cs typeface="Arial"/>
              </a:rPr>
              <a:t>A-1040 </a:t>
            </a:r>
            <a:r>
              <a:rPr sz="1867" spc="0" dirty="0">
                <a:latin typeface="Arial"/>
                <a:cs typeface="Arial"/>
              </a:rPr>
              <a:t>Wien  </a:t>
            </a:r>
            <a:r>
              <a:rPr sz="1867" spc="-27" dirty="0">
                <a:latin typeface="Arial"/>
                <a:cs typeface="Arial"/>
              </a:rPr>
              <a:t>Telefon: </a:t>
            </a:r>
            <a:r>
              <a:rPr sz="1867" dirty="0">
                <a:latin typeface="Arial"/>
                <a:cs typeface="Arial"/>
              </a:rPr>
              <a:t>+43 (1)</a:t>
            </a:r>
            <a:r>
              <a:rPr sz="1867" spc="-60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58801-330</a:t>
            </a:r>
            <a:r>
              <a:rPr lang="de-AT" sz="1867" spc="-7" dirty="0">
                <a:latin typeface="Arial"/>
                <a:cs typeface="Arial"/>
              </a:rPr>
              <a:t>55</a:t>
            </a:r>
            <a:endParaRPr sz="1867" dirty="0">
              <a:latin typeface="Arial"/>
              <a:cs typeface="Arial"/>
            </a:endParaRPr>
          </a:p>
          <a:p>
            <a:pPr marL="16933">
              <a:lnSpc>
                <a:spcPct val="100000"/>
              </a:lnSpc>
              <a:spcBef>
                <a:spcPts val="272"/>
              </a:spcBef>
            </a:pPr>
            <a:r>
              <a:rPr lang="de-AT" sz="1867" u="heavy" spc="-7" dirty="0" err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walter.mayrhofer</a:t>
            </a:r>
            <a:r>
              <a:rPr sz="1867" u="heavy" spc="-7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@tuwien.ac.at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14" name="object 8"/>
          <p:cNvSpPr/>
          <p:nvPr/>
        </p:nvSpPr>
        <p:spPr>
          <a:xfrm>
            <a:off x="3434202" y="3344187"/>
            <a:ext cx="1920239" cy="10017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9"/>
          <p:cNvSpPr/>
          <p:nvPr/>
        </p:nvSpPr>
        <p:spPr>
          <a:xfrm>
            <a:off x="1186978" y="3573805"/>
            <a:ext cx="2048255" cy="5425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63" r="10893"/>
          <a:stretch/>
        </p:blipFill>
        <p:spPr>
          <a:xfrm>
            <a:off x="8760855" y="1380194"/>
            <a:ext cx="2688299" cy="370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707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R_M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143004" y="6356352"/>
            <a:ext cx="2173817" cy="365125"/>
          </a:xfrm>
        </p:spPr>
        <p:txBody>
          <a:bodyPr/>
          <a:lstStyle>
            <a:lvl1pPr marL="0" algn="l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Model-Context-Protocol by Kristóf Varga-Balázs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311400" cy="365125"/>
          </a:xfrm>
        </p:spPr>
        <p:txBody>
          <a:bodyPr/>
          <a:lstStyle>
            <a:lvl1pPr marL="0" algn="r" defTabSz="914377" rtl="0" eaLnBrk="1" latinLnBrk="0" hangingPunct="1"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17867CDA-4693-FC4B-B498-098FC17878A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feld 1"/>
          <p:cNvSpPr txBox="1"/>
          <p:nvPr/>
        </p:nvSpPr>
        <p:spPr>
          <a:xfrm>
            <a:off x="1143004" y="170544"/>
            <a:ext cx="329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 dirty="0"/>
              <a:t>Contact</a:t>
            </a:r>
          </a:p>
        </p:txBody>
      </p:sp>
      <p:sp>
        <p:nvSpPr>
          <p:cNvPr id="10" name="object 4"/>
          <p:cNvSpPr txBox="1"/>
          <p:nvPr/>
        </p:nvSpPr>
        <p:spPr>
          <a:xfrm>
            <a:off x="1142967" y="1380194"/>
            <a:ext cx="7185660" cy="1492417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627"/>
              </a:spcBef>
            </a:pPr>
            <a:r>
              <a:rPr lang="de-AT" sz="2667" b="1" dirty="0">
                <a:latin typeface="Arial"/>
                <a:cs typeface="Arial"/>
              </a:rPr>
              <a:t>Patrick</a:t>
            </a:r>
            <a:r>
              <a:rPr lang="de-AT" sz="2667" b="1" baseline="0" dirty="0">
                <a:latin typeface="Arial"/>
                <a:cs typeface="Arial"/>
              </a:rPr>
              <a:t> Rupprecht, </a:t>
            </a:r>
            <a:r>
              <a:rPr lang="de-AT" sz="2667" b="1" baseline="0" dirty="0" err="1">
                <a:latin typeface="Arial"/>
                <a:cs typeface="Arial"/>
              </a:rPr>
              <a:t>MSc</a:t>
            </a:r>
            <a:r>
              <a:rPr lang="de-AT" sz="2667" b="1" baseline="0" dirty="0">
                <a:latin typeface="Arial"/>
                <a:cs typeface="Arial"/>
              </a:rPr>
              <a:t> </a:t>
            </a:r>
            <a:r>
              <a:rPr lang="de-AT" sz="2667" b="1" baseline="0" dirty="0" err="1">
                <a:latin typeface="Arial"/>
                <a:cs typeface="Arial"/>
              </a:rPr>
              <a:t>MSc</a:t>
            </a:r>
            <a:endParaRPr sz="2667" dirty="0">
              <a:latin typeface="Arial"/>
              <a:cs typeface="Arial"/>
            </a:endParaRPr>
          </a:p>
          <a:p>
            <a:pPr marL="16933">
              <a:lnSpc>
                <a:spcPct val="100000"/>
              </a:lnSpc>
              <a:spcBef>
                <a:spcPts val="467"/>
              </a:spcBef>
            </a:pPr>
            <a:r>
              <a:rPr lang="de-AT" sz="1867" spc="-7" dirty="0">
                <a:latin typeface="Arial"/>
                <a:cs typeface="Arial"/>
              </a:rPr>
              <a:t>Wissenschaftlicher Mitarbeiter</a:t>
            </a:r>
            <a:endParaRPr sz="1867" dirty="0">
              <a:latin typeface="Arial"/>
              <a:cs typeface="Arial"/>
            </a:endParaRPr>
          </a:p>
          <a:p>
            <a:pPr marL="16933" marR="6773">
              <a:lnSpc>
                <a:spcPct val="120000"/>
              </a:lnSpc>
            </a:pPr>
            <a:r>
              <a:rPr sz="1867" spc="-7" dirty="0">
                <a:latin typeface="Arial"/>
                <a:cs typeface="Arial"/>
              </a:rPr>
              <a:t>Human </a:t>
            </a:r>
            <a:r>
              <a:rPr sz="1867" dirty="0">
                <a:latin typeface="Arial"/>
                <a:cs typeface="Arial"/>
              </a:rPr>
              <a:t>Centered </a:t>
            </a:r>
            <a:r>
              <a:rPr sz="1867" spc="-7" dirty="0">
                <a:latin typeface="Arial"/>
                <a:cs typeface="Arial"/>
              </a:rPr>
              <a:t>Cyber Physical </a:t>
            </a:r>
            <a:r>
              <a:rPr sz="1867" dirty="0">
                <a:latin typeface="Arial"/>
                <a:cs typeface="Arial"/>
              </a:rPr>
              <a:t>Production and Assembly</a:t>
            </a:r>
            <a:r>
              <a:rPr sz="1867" spc="-293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Systems  </a:t>
            </a:r>
            <a:r>
              <a:rPr sz="1867" dirty="0">
                <a:latin typeface="Arial"/>
                <a:cs typeface="Arial"/>
              </a:rPr>
              <a:t>(BMVIT </a:t>
            </a:r>
            <a:r>
              <a:rPr sz="1867" spc="-7" dirty="0">
                <a:latin typeface="Arial"/>
                <a:cs typeface="Arial"/>
              </a:rPr>
              <a:t>Stiftungsprofessur </a:t>
            </a:r>
            <a:r>
              <a:rPr sz="1867" dirty="0">
                <a:latin typeface="Arial"/>
                <a:cs typeface="Arial"/>
              </a:rPr>
              <a:t>für Industrie</a:t>
            </a:r>
            <a:r>
              <a:rPr sz="1867" spc="-22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4.0)</a:t>
            </a:r>
          </a:p>
        </p:txBody>
      </p:sp>
      <p:sp>
        <p:nvSpPr>
          <p:cNvPr id="11" name="object 5"/>
          <p:cNvSpPr txBox="1"/>
          <p:nvPr/>
        </p:nvSpPr>
        <p:spPr>
          <a:xfrm>
            <a:off x="1145248" y="4086758"/>
            <a:ext cx="4136813" cy="1751889"/>
          </a:xfrm>
          <a:prstGeom prst="rect">
            <a:avLst/>
          </a:prstGeom>
        </p:spPr>
        <p:txBody>
          <a:bodyPr vert="horz" wrap="square" lIns="0" tIns="73659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579"/>
              </a:spcBef>
            </a:pPr>
            <a:r>
              <a:rPr sz="1867" spc="-27" dirty="0" err="1">
                <a:latin typeface="Arial"/>
                <a:cs typeface="Arial"/>
              </a:rPr>
              <a:t>Technische</a:t>
            </a:r>
            <a:r>
              <a:rPr sz="1867" spc="-2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Universität</a:t>
            </a:r>
            <a:r>
              <a:rPr sz="1867" spc="-5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Wien</a:t>
            </a:r>
          </a:p>
          <a:p>
            <a:pPr marL="16933" marR="6773">
              <a:lnSpc>
                <a:spcPts val="2693"/>
              </a:lnSpc>
              <a:spcBef>
                <a:spcPts val="160"/>
              </a:spcBef>
            </a:pPr>
            <a:r>
              <a:rPr sz="1867" spc="-7" dirty="0">
                <a:latin typeface="Arial"/>
                <a:cs typeface="Arial"/>
              </a:rPr>
              <a:t>Institut </a:t>
            </a:r>
            <a:r>
              <a:rPr sz="1867" dirty="0">
                <a:latin typeface="Arial"/>
                <a:cs typeface="Arial"/>
              </a:rPr>
              <a:t>für </a:t>
            </a:r>
            <a:r>
              <a:rPr sz="1867" spc="-7" dirty="0">
                <a:latin typeface="Arial"/>
                <a:cs typeface="Arial"/>
              </a:rPr>
              <a:t>Managementwissenschaften  Theresianumgasse </a:t>
            </a:r>
            <a:r>
              <a:rPr sz="1867" dirty="0">
                <a:latin typeface="Arial"/>
                <a:cs typeface="Arial"/>
              </a:rPr>
              <a:t>27, </a:t>
            </a:r>
            <a:r>
              <a:rPr sz="1867" spc="-7" dirty="0">
                <a:latin typeface="Arial"/>
                <a:cs typeface="Arial"/>
              </a:rPr>
              <a:t>A-1040 </a:t>
            </a:r>
            <a:r>
              <a:rPr sz="1867" spc="0" dirty="0">
                <a:latin typeface="Arial"/>
                <a:cs typeface="Arial"/>
              </a:rPr>
              <a:t>Wien  </a:t>
            </a:r>
            <a:r>
              <a:rPr sz="1867" spc="-27" dirty="0">
                <a:latin typeface="Arial"/>
                <a:cs typeface="Arial"/>
              </a:rPr>
              <a:t>Telefon: </a:t>
            </a:r>
            <a:r>
              <a:rPr sz="1867" dirty="0">
                <a:latin typeface="Arial"/>
                <a:cs typeface="Arial"/>
              </a:rPr>
              <a:t>+43 (1)</a:t>
            </a:r>
            <a:r>
              <a:rPr sz="1867" spc="-60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58801-330</a:t>
            </a:r>
            <a:r>
              <a:rPr lang="de-AT" sz="1867" spc="-7" dirty="0">
                <a:latin typeface="Arial"/>
                <a:cs typeface="Arial"/>
              </a:rPr>
              <a:t>56</a:t>
            </a:r>
            <a:endParaRPr sz="1867" dirty="0">
              <a:latin typeface="Arial"/>
              <a:cs typeface="Arial"/>
            </a:endParaRPr>
          </a:p>
          <a:p>
            <a:pPr marL="16933">
              <a:lnSpc>
                <a:spcPct val="100000"/>
              </a:lnSpc>
              <a:spcBef>
                <a:spcPts val="272"/>
              </a:spcBef>
            </a:pPr>
            <a:r>
              <a:rPr lang="de-AT" sz="1867" u="heavy" spc="-7" dirty="0" err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patrick.rupprecht</a:t>
            </a:r>
            <a:r>
              <a:rPr sz="1867" u="heavy" spc="-7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@tuwien.ac.at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14" name="object 8"/>
          <p:cNvSpPr/>
          <p:nvPr/>
        </p:nvSpPr>
        <p:spPr>
          <a:xfrm>
            <a:off x="3392473" y="3007361"/>
            <a:ext cx="1920239" cy="10017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9"/>
          <p:cNvSpPr/>
          <p:nvPr/>
        </p:nvSpPr>
        <p:spPr>
          <a:xfrm>
            <a:off x="1145248" y="3236979"/>
            <a:ext cx="2048255" cy="5425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855" y="1425761"/>
            <a:ext cx="2688299" cy="36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293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295467" y="1028733"/>
            <a:ext cx="10176272" cy="1377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2133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Centered Cyber Physical Production and </a:t>
            </a:r>
            <a:r>
              <a:rPr lang="de-DE" sz="2133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Assembly</a:t>
            </a:r>
            <a:r>
              <a:rPr lang="de-DE" sz="2133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Systems</a:t>
            </a: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2133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Human-</a:t>
            </a:r>
            <a:r>
              <a:rPr lang="de-DE" sz="2133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</a:t>
            </a:r>
            <a:r>
              <a:rPr lang="de-DE" sz="2133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-Interaction</a:t>
            </a: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467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BMVIT- </a:t>
            </a:r>
            <a:r>
              <a:rPr lang="de-DE" sz="1467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Endowed</a:t>
            </a:r>
            <a:r>
              <a:rPr lang="de-DE" sz="1467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67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Professorship</a:t>
            </a:r>
            <a:r>
              <a:rPr lang="de-DE" sz="1467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67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sz="1467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Industry 4.0</a:t>
            </a:r>
          </a:p>
        </p:txBody>
      </p:sp>
      <p:grpSp>
        <p:nvGrpSpPr>
          <p:cNvPr id="9" name="Gruppieren 8"/>
          <p:cNvGrpSpPr/>
          <p:nvPr/>
        </p:nvGrpSpPr>
        <p:grpSpPr>
          <a:xfrm>
            <a:off x="1203815" y="2048374"/>
            <a:ext cx="9788729" cy="829539"/>
            <a:chOff x="2046757" y="1869672"/>
            <a:chExt cx="5434206" cy="460518"/>
          </a:xfrm>
        </p:grpSpPr>
        <p:pic>
          <p:nvPicPr>
            <p:cNvPr id="10" name="Grafik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1820" y="1869672"/>
              <a:ext cx="773383" cy="403391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6757" y="2056936"/>
              <a:ext cx="827294" cy="219248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55977" y="2132037"/>
              <a:ext cx="620450" cy="97908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83512" y="1918946"/>
              <a:ext cx="381956" cy="324036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81208" y="2045312"/>
              <a:ext cx="570913" cy="251675"/>
            </a:xfrm>
            <a:prstGeom prst="rect">
              <a:avLst/>
            </a:prstGeom>
          </p:spPr>
        </p:pic>
        <p:pic>
          <p:nvPicPr>
            <p:cNvPr id="15" name="Grafik 1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60132" y="2044589"/>
              <a:ext cx="879115" cy="285601"/>
            </a:xfrm>
            <a:prstGeom prst="rect">
              <a:avLst/>
            </a:prstGeom>
          </p:spPr>
        </p:pic>
        <p:pic>
          <p:nvPicPr>
            <p:cNvPr id="16" name="Grafik 15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7851" y="2022164"/>
              <a:ext cx="733112" cy="279281"/>
            </a:xfrm>
            <a:prstGeom prst="rect">
              <a:avLst/>
            </a:prstGeom>
          </p:spPr>
        </p:pic>
      </p:grp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1107333" y="4898982"/>
            <a:ext cx="2492391" cy="1323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endParaRPr lang="de-DE" sz="1333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333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Univ. Prof. Dr.-Ing. Dipl.-Ing.</a:t>
            </a: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333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Sebastian Schlund</a:t>
            </a: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333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+43 (1) 58801-33054</a:t>
            </a: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333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sebastian.schlund@tuwien.ac.at</a:t>
            </a:r>
            <a:endParaRPr lang="de-DE" sz="1333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endParaRPr lang="de-DE" sz="1333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3891642" y="4898981"/>
            <a:ext cx="2492391" cy="1323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endParaRPr lang="de-DE" sz="1333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333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Dipl.-Ing. Dr.</a:t>
            </a:r>
          </a:p>
          <a:p>
            <a:pPr lvl="0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333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Walter Mayrhofer</a:t>
            </a:r>
            <a:endParaRPr lang="de-DE" sz="1333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333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+43 (1) 58801-33055</a:t>
            </a: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333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walter.mayrhofer@tuwien.ac.at</a:t>
            </a:r>
            <a:endParaRPr lang="de-DE" sz="1333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endParaRPr lang="de-DE" sz="1333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hteck 22"/>
          <p:cNvSpPr/>
          <p:nvPr/>
        </p:nvSpPr>
        <p:spPr>
          <a:xfrm>
            <a:off x="1775520" y="6139366"/>
            <a:ext cx="9504197" cy="276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333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Technische Universität Wien, Institute </a:t>
            </a:r>
            <a:r>
              <a:rPr lang="de-DE" sz="1333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1333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Management Sciences, </a:t>
            </a:r>
            <a:r>
              <a:rPr lang="de-DE" sz="1333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Theresianumgasse</a:t>
            </a:r>
            <a:r>
              <a:rPr lang="de-DE" sz="1333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27, A-1040 Wien</a:t>
            </a:r>
          </a:p>
        </p:txBody>
      </p:sp>
      <p:sp>
        <p:nvSpPr>
          <p:cNvPr id="24" name="Textfeld 23"/>
          <p:cNvSpPr txBox="1"/>
          <p:nvPr/>
        </p:nvSpPr>
        <p:spPr>
          <a:xfrm>
            <a:off x="1143004" y="170544"/>
            <a:ext cx="329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 dirty="0"/>
              <a:t>Contact</a:t>
            </a:r>
          </a:p>
        </p:txBody>
      </p:sp>
      <p:pic>
        <p:nvPicPr>
          <p:cNvPr id="21" name="Grafik 20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28"/>
          <a:stretch/>
        </p:blipFill>
        <p:spPr>
          <a:xfrm>
            <a:off x="8976321" y="2985491"/>
            <a:ext cx="1522929" cy="2055692"/>
          </a:xfrm>
          <a:prstGeom prst="rect">
            <a:avLst/>
          </a:prstGeom>
        </p:spPr>
      </p:pic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8976320" y="4863629"/>
            <a:ext cx="2851331" cy="1323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endParaRPr lang="de-DE" sz="1333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333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MSc</a:t>
            </a:r>
            <a:endParaRPr lang="de-DE" sz="1333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333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Christina</a:t>
            </a:r>
            <a:r>
              <a:rPr lang="de-DE" sz="1333" b="1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Schmidbauer</a:t>
            </a:r>
            <a:endParaRPr lang="de-DE" sz="1333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333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+43 (1) 58801-33059</a:t>
            </a: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333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12"/>
              </a:rPr>
              <a:t>Christina.Schmidbauer@tuwien.ac.at</a:t>
            </a:r>
            <a:r>
              <a:rPr lang="de-DE" sz="1333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de-DE" sz="1333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endParaRPr lang="de-DE" sz="1333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auto">
          <a:xfrm>
            <a:off x="6509032" y="4890018"/>
            <a:ext cx="2851331" cy="1323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endParaRPr lang="de-DE" sz="1333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endParaRPr lang="de-DE" sz="1333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333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David Kames</a:t>
            </a:r>
            <a:endParaRPr lang="de-DE" sz="1333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endParaRPr lang="de-DE" sz="1333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hlinkClick r:id="rId12"/>
            </a:endParaRP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r>
              <a:rPr lang="de-DE" sz="1333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13"/>
              </a:rPr>
              <a:t>David.Kames@tuwien.ac.at</a:t>
            </a:r>
            <a:r>
              <a:rPr lang="de-DE" sz="1333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defTabSz="914377">
              <a:lnSpc>
                <a:spcPct val="90000"/>
              </a:lnSpc>
              <a:spcBef>
                <a:spcPct val="30000"/>
              </a:spcBef>
              <a:buClr>
                <a:srgbClr val="179C7D"/>
              </a:buClr>
              <a:defRPr/>
            </a:pPr>
            <a:endParaRPr lang="de-DE" sz="1333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9460" y="2985491"/>
            <a:ext cx="1414293" cy="2073843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15"/>
          <a:srcRect l="21440" r="24800"/>
          <a:stretch/>
        </p:blipFill>
        <p:spPr>
          <a:xfrm>
            <a:off x="1130957" y="3003639"/>
            <a:ext cx="1673169" cy="2074892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26691" y="3011005"/>
            <a:ext cx="1690204" cy="207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7279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_M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2190724" y="2372884"/>
            <a:ext cx="8191557" cy="1248137"/>
          </a:xfrm>
          <a:prstGeom prst="rect">
            <a:avLst/>
          </a:prstGeom>
        </p:spPr>
        <p:txBody>
          <a:bodyPr/>
          <a:lstStyle>
            <a:lvl1pPr algn="l">
              <a:defRPr sz="3733" b="1" baseline="0">
                <a:solidFill>
                  <a:schemeClr val="bg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</a:lstStyle>
          <a:p>
            <a:r>
              <a:rPr lang="de-DE" dirty="0"/>
              <a:t>Grundlagen der Montageplanung und Montagegestaltung</a:t>
            </a:r>
            <a:br>
              <a:rPr lang="de-DE" dirty="0"/>
            </a:b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2190723" y="3621021"/>
            <a:ext cx="8286808" cy="56971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z.B. VL1 Einführung </a:t>
            </a:r>
          </a:p>
        </p:txBody>
      </p:sp>
      <p:sp>
        <p:nvSpPr>
          <p:cNvPr id="5" name="Untertitel 2"/>
          <p:cNvSpPr txBox="1">
            <a:spLocks/>
          </p:cNvSpPr>
          <p:nvPr/>
        </p:nvSpPr>
        <p:spPr>
          <a:xfrm>
            <a:off x="2190723" y="4204543"/>
            <a:ext cx="8286808" cy="480053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500" b="0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429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867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2190724" y="4296751"/>
            <a:ext cx="8417779" cy="3878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AT" dirty="0"/>
              <a:t>Titel</a:t>
            </a:r>
          </a:p>
        </p:txBody>
      </p:sp>
      <p:sp>
        <p:nvSpPr>
          <p:cNvPr id="16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190721" y="4592546"/>
            <a:ext cx="8417779" cy="3878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33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AT" dirty="0"/>
              <a:t>Max Mustermann, </a:t>
            </a:r>
            <a:r>
              <a:rPr lang="de-AT" dirty="0" err="1"/>
              <a:t>MSc</a:t>
            </a:r>
            <a:endParaRPr lang="de-AT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45DDA8B-81FC-CF42-F824-8AE1E9876CE2}"/>
              </a:ext>
            </a:extLst>
          </p:cNvPr>
          <p:cNvSpPr txBox="1"/>
          <p:nvPr/>
        </p:nvSpPr>
        <p:spPr>
          <a:xfrm>
            <a:off x="2746049" y="59706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31189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titel 1.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Grafik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192088" y="6316653"/>
            <a:ext cx="5832475" cy="425459"/>
          </a:xfrm>
          <a:prstGeom prst="rect">
            <a:avLst/>
          </a:prstGeom>
        </p:spPr>
        <p:txBody>
          <a:bodyPr lIns="0" anchor="b"/>
          <a:lstStyle>
            <a:lvl1pPr algn="l">
              <a:defRPr lang="de-DE" sz="10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de-AT"/>
              <a:t>Model-Context-Protocol by Kristóf Varga-Balázs</a:t>
            </a:r>
            <a:endParaRPr/>
          </a:p>
        </p:txBody>
      </p:sp>
      <p:sp>
        <p:nvSpPr>
          <p:cNvPr id="6" name="Titel 1"/>
          <p:cNvSpPr>
            <a:spLocks noGrp="1"/>
          </p:cNvSpPr>
          <p:nvPr>
            <p:ph type="ctrTitle"/>
          </p:nvPr>
        </p:nvSpPr>
        <p:spPr bwMode="auto">
          <a:xfrm>
            <a:off x="1919287" y="2967328"/>
            <a:ext cx="4105276" cy="1089529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lIns="90000" anchor="b">
            <a:spAutoFit/>
          </a:bodyPr>
          <a:lstStyle>
            <a:lvl1pPr algn="l">
              <a:defRPr lang="de-DE" sz="3600" b="1" cap="none">
                <a:solidFill>
                  <a:srgbClr val="006699"/>
                </a:solidFill>
                <a:latin typeface="Arial"/>
                <a:cs typeface="Arial"/>
              </a:defRPr>
            </a:lvl1pPr>
          </a:lstStyle>
          <a:p>
            <a:pPr lvl="0" algn="l" defTabSz="914377">
              <a:lnSpc>
                <a:spcPct val="90000"/>
              </a:lnSpc>
              <a:spcBef>
                <a:spcPts val="200"/>
              </a:spcBef>
              <a:buNone/>
              <a:defRPr/>
            </a:pPr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919287" y="4365625"/>
            <a:ext cx="4105276" cy="40011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lIns="90000">
            <a:spAutoFit/>
          </a:bodyPr>
          <a:lstStyle>
            <a:lvl1pPr>
              <a:defRPr lang="de-DE" sz="2000" b="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pPr marL="0" lvl="0" indent="0">
              <a:buNone/>
              <a:defRPr/>
            </a:pPr>
            <a:r>
              <a:rPr lang="en-US"/>
              <a:t>Click to edit Master subtitle style</a:t>
            </a:r>
            <a:endParaRPr lang="de-DE"/>
          </a:p>
        </p:txBody>
      </p:sp>
      <p:pic>
        <p:nvPicPr>
          <p:cNvPr id="8" name="Grafik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2089" y="203369"/>
            <a:ext cx="3779476" cy="143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106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5.png"/><Relationship Id="rId5" Type="http://schemas.microsoft.com/office/2007/relationships/hdphoto" Target="../media/hdphoto1.wdp"/><Relationship Id="rId4" Type="http://schemas.openxmlformats.org/officeDocument/2006/relationships/image" Target="../media/image2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EE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Model-Context-Protocol by Kristóf Varga-Balázs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17867CDA-4693-FC4B-B498-098FC17878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0" y="857232"/>
            <a:ext cx="12192000" cy="60007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Datumsplatzhalter 3"/>
          <p:cNvSpPr txBox="1">
            <a:spLocks/>
          </p:cNvSpPr>
          <p:nvPr/>
        </p:nvSpPr>
        <p:spPr>
          <a:xfrm>
            <a:off x="-48681" y="6597355"/>
            <a:ext cx="2173817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E5664765-82E1-4004-8DD7-56FB19917FF3}" type="datetimeFigureOut">
              <a:rPr lang="de-AT" sz="12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>
                <a:defRPr/>
              </a:pPr>
              <a:t>05.05.26</a:t>
            </a:fld>
            <a:endParaRPr lang="de-AT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Foliennummernplatzhalter 5"/>
          <p:cNvSpPr txBox="1">
            <a:spLocks/>
          </p:cNvSpPr>
          <p:nvPr/>
        </p:nvSpPr>
        <p:spPr>
          <a:xfrm>
            <a:off x="11376587" y="6597352"/>
            <a:ext cx="877800" cy="313011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de-DE" sz="1200" kern="1200" baseline="0">
                <a:solidFill>
                  <a:srgbClr val="006699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B4DA0310-534E-4B35-B327-5B8171D359DF}" type="slidenum">
              <a:rPr lang="de-AT" sz="12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>
                <a:defRPr/>
              </a:pPr>
              <a:t>‹#›</a:t>
            </a:fld>
            <a:endParaRPr lang="de-AT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9" name="Grafik 1"/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832"/>
          <a:stretch/>
        </p:blipFill>
        <p:spPr bwMode="auto">
          <a:xfrm>
            <a:off x="343725" y="191543"/>
            <a:ext cx="531751" cy="529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A1D8B680-6060-5F26-4F27-4B32F0C2A5C9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163" y="148058"/>
            <a:ext cx="1906509" cy="59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08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1" r:id="rId2"/>
    <p:sldLayoutId id="2147483662" r:id="rId3"/>
    <p:sldLayoutId id="2147483663" r:id="rId4"/>
    <p:sldLayoutId id="2147483664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cs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cs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cs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cs typeface="Arial" pitchFamily="34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cs typeface="Arial" pitchFamily="34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cs typeface="Arial" pitchFamily="34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cs typeface="Arial" pitchFamily="34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cs typeface="Arial" pitchFamily="34" charset="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lr>
          <a:srgbClr val="006699"/>
        </a:buClr>
        <a:buSzPct val="110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lr>
          <a:srgbClr val="006699"/>
        </a:buClr>
        <a:buSzPct val="120000"/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lr>
          <a:srgbClr val="006699"/>
        </a:buClr>
        <a:buSzPct val="120000"/>
        <a:buFont typeface="Symbol" pitchFamily="18" charset="2"/>
        <a:buChar char="-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Bild 7" descr="TU_rendering.tif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grpSp>
        <p:nvGrpSpPr>
          <p:cNvPr id="1027" name="Gruppieren 14"/>
          <p:cNvGrpSpPr>
            <a:grpSpLocks/>
          </p:cNvGrpSpPr>
          <p:nvPr/>
        </p:nvGrpSpPr>
        <p:grpSpPr bwMode="auto">
          <a:xfrm>
            <a:off x="0" y="2076450"/>
            <a:ext cx="11523133" cy="4781551"/>
            <a:chOff x="0" y="2076528"/>
            <a:chExt cx="8642400" cy="4781472"/>
          </a:xfrm>
        </p:grpSpPr>
        <p:sp>
          <p:nvSpPr>
            <p:cNvPr id="1029" name="Rectangle 12"/>
            <p:cNvSpPr>
              <a:spLocks noChangeArrowheads="1"/>
            </p:cNvSpPr>
            <p:nvPr/>
          </p:nvSpPr>
          <p:spPr bwMode="auto">
            <a:xfrm>
              <a:off x="0" y="2076528"/>
              <a:ext cx="8143922" cy="4781472"/>
            </a:xfrm>
            <a:prstGeom prst="rect">
              <a:avLst/>
            </a:prstGeom>
            <a:solidFill>
              <a:srgbClr val="00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/>
            </a:p>
          </p:txBody>
        </p:sp>
        <p:sp>
          <p:nvSpPr>
            <p:cNvPr id="1030" name="Oval 10"/>
            <p:cNvSpPr>
              <a:spLocks noChangeArrowheads="1"/>
            </p:cNvSpPr>
            <p:nvPr/>
          </p:nvSpPr>
          <p:spPr bwMode="auto">
            <a:xfrm>
              <a:off x="7627982" y="2076528"/>
              <a:ext cx="1012831" cy="1012808"/>
            </a:xfrm>
            <a:prstGeom prst="ellipse">
              <a:avLst/>
            </a:prstGeom>
            <a:solidFill>
              <a:srgbClr val="00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/>
            </a:p>
          </p:txBody>
        </p:sp>
        <p:sp>
          <p:nvSpPr>
            <p:cNvPr id="1031" name="Rectangle 15"/>
            <p:cNvSpPr>
              <a:spLocks noChangeArrowheads="1"/>
            </p:cNvSpPr>
            <p:nvPr/>
          </p:nvSpPr>
          <p:spPr bwMode="auto">
            <a:xfrm>
              <a:off x="4895878" y="2571820"/>
              <a:ext cx="3746522" cy="4286180"/>
            </a:xfrm>
            <a:prstGeom prst="rect">
              <a:avLst/>
            </a:prstGeom>
            <a:solidFill>
              <a:srgbClr val="00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/>
            </a:p>
          </p:txBody>
        </p:sp>
      </p:grpSp>
      <p:pic>
        <p:nvPicPr>
          <p:cNvPr id="8" name="Grafik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260649"/>
            <a:ext cx="3360373" cy="1477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platzhalter 12"/>
          <p:cNvSpPr txBox="1">
            <a:spLocks/>
          </p:cNvSpPr>
          <p:nvPr/>
        </p:nvSpPr>
        <p:spPr>
          <a:xfrm>
            <a:off x="2190721" y="5631705"/>
            <a:ext cx="8417779" cy="766185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400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67" dirty="0"/>
              <a:t>Research Unit Human </a:t>
            </a:r>
            <a:r>
              <a:rPr lang="de-DE" sz="1867" dirty="0" err="1"/>
              <a:t>Centered</a:t>
            </a:r>
            <a:r>
              <a:rPr lang="de-DE" sz="1867" dirty="0"/>
              <a:t> </a:t>
            </a:r>
            <a:r>
              <a:rPr lang="de-DE" sz="1867" dirty="0" err="1"/>
              <a:t>Cyber</a:t>
            </a:r>
            <a:r>
              <a:rPr lang="de-DE" sz="1867" dirty="0"/>
              <a:t> </a:t>
            </a:r>
            <a:r>
              <a:rPr lang="de-DE" sz="1867" dirty="0" err="1"/>
              <a:t>Physical</a:t>
            </a:r>
            <a:r>
              <a:rPr lang="de-DE" sz="1867" dirty="0"/>
              <a:t> Production and Assembly Systems (BMK </a:t>
            </a:r>
            <a:r>
              <a:rPr lang="de-DE" sz="1867" dirty="0" err="1"/>
              <a:t>Endowed</a:t>
            </a:r>
            <a:r>
              <a:rPr lang="de-DE" sz="1867" dirty="0"/>
              <a:t> </a:t>
            </a:r>
            <a:r>
              <a:rPr lang="de-DE" sz="1867" dirty="0" err="1"/>
              <a:t>Professorship</a:t>
            </a:r>
            <a:r>
              <a:rPr lang="de-DE" sz="1867" dirty="0"/>
              <a:t> </a:t>
            </a:r>
            <a:r>
              <a:rPr lang="de-DE" sz="1867" dirty="0" err="1"/>
              <a:t>for</a:t>
            </a:r>
            <a:r>
              <a:rPr lang="de-DE" sz="1867" dirty="0"/>
              <a:t> Industry 4.0)</a:t>
            </a:r>
          </a:p>
        </p:txBody>
      </p:sp>
      <p:sp>
        <p:nvSpPr>
          <p:cNvPr id="13" name="Textplatzhalter 12"/>
          <p:cNvSpPr txBox="1">
            <a:spLocks/>
          </p:cNvSpPr>
          <p:nvPr/>
        </p:nvSpPr>
        <p:spPr>
          <a:xfrm>
            <a:off x="2190721" y="6323196"/>
            <a:ext cx="8417779" cy="387845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400" b="0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1867" dirty="0"/>
              <a:t>TU Wien – Institute of Management Sciences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9BCD11D-B187-BDEB-6F44-6FF1CE6BEC4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299" y="267501"/>
            <a:ext cx="3029051" cy="94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714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18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377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566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7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64B34-AAE8-22A8-369B-8BF7DEB26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1608" y="2965067"/>
            <a:ext cx="8208783" cy="1077218"/>
          </a:xfrm>
        </p:spPr>
        <p:txBody>
          <a:bodyPr/>
          <a:lstStyle/>
          <a:p>
            <a:pPr algn="ctr"/>
            <a:r>
              <a:rPr lang="en-US" dirty="0"/>
              <a:t>Model-Context-Protocol</a:t>
            </a:r>
            <a:br>
              <a:rPr lang="en-US" dirty="0"/>
            </a:br>
            <a:r>
              <a:rPr lang="en-US" sz="2800" dirty="0"/>
              <a:t>A brief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D43C18-82CF-73A9-CB83-B572A2ADC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24020" y="4647159"/>
            <a:ext cx="5543959" cy="113877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Industrial AI, 2026S</a:t>
            </a:r>
          </a:p>
          <a:p>
            <a:pPr marL="0" indent="0" algn="ctr">
              <a:buNone/>
            </a:pPr>
            <a:r>
              <a:rPr lang="en-US" dirty="0"/>
              <a:t>Kristóf Varga-Balázs</a:t>
            </a:r>
          </a:p>
          <a:p>
            <a:pPr marL="0" indent="0" algn="ctr">
              <a:buNone/>
            </a:pPr>
            <a:r>
              <a:rPr lang="en-US" dirty="0"/>
              <a:t>12516697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C5AAA1-7A3D-BBAF-0E4D-E1FBF923E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Model-Context-Protocol by Kristóf Varga-Balázs</a:t>
            </a:r>
          </a:p>
        </p:txBody>
      </p:sp>
    </p:spTree>
    <p:extLst>
      <p:ext uri="{BB962C8B-B14F-4D97-AF65-F5344CB8AC3E}">
        <p14:creationId xmlns:p14="http://schemas.microsoft.com/office/powerpoint/2010/main" val="2250755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3214E5-0642-B3C1-ACA8-A2B2D5C0C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457200" indent="-457200" algn="ctr">
              <a:buFont typeface="+mj-lt"/>
              <a:buAutoNum type="arabicPeriod"/>
            </a:pPr>
            <a:r>
              <a:rPr lang="en-US" sz="3600" dirty="0"/>
              <a:t>What is MCP?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sz="3600" dirty="0"/>
              <a:t>Why is MCP relevant?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sz="3600" dirty="0"/>
              <a:t>Technical overview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sz="3600" dirty="0"/>
              <a:t>Live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2A46F-4BDC-154D-541D-45BCB678F8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293707-76D0-2D8D-329A-86904DA4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Model-Context-Protocol by Kristóf Varga-Balázs</a:t>
            </a:r>
          </a:p>
        </p:txBody>
      </p:sp>
    </p:spTree>
    <p:extLst>
      <p:ext uri="{BB962C8B-B14F-4D97-AF65-F5344CB8AC3E}">
        <p14:creationId xmlns:p14="http://schemas.microsoft.com/office/powerpoint/2010/main" val="419216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5DE6075-F7F6-2105-0E60-EFDDE7028E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365" t="7594" r="1459" b="4556"/>
          <a:stretch>
            <a:fillRect/>
          </a:stretch>
        </p:blipFill>
        <p:spPr>
          <a:xfrm>
            <a:off x="733586" y="905568"/>
            <a:ext cx="10724827" cy="545078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78C8E-8D2C-03A3-20A1-AA5AFA109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What is MCP?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D22F8-F762-DCFE-383E-CC7F7485C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Model-Context-Protocol by Kristóf Varga-Balázs</a:t>
            </a:r>
          </a:p>
        </p:txBody>
      </p:sp>
    </p:spTree>
    <p:extLst>
      <p:ext uri="{BB962C8B-B14F-4D97-AF65-F5344CB8AC3E}">
        <p14:creationId xmlns:p14="http://schemas.microsoft.com/office/powerpoint/2010/main" val="24251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9A72C8-2A5E-6CB9-FD83-F4BEAD833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LLMs alone: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hallucinate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 real-time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 system access</a:t>
            </a:r>
          </a:p>
          <a:p>
            <a:r>
              <a:rPr lang="en-US" b="1" dirty="0"/>
              <a:t>MCP enables: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real data access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actions (not just answers)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reliable, grounded responses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A63D6-E2D3-0801-1F68-B60D675E9E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Why is MCP relevant?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2470FF-82F4-4525-8A49-FFEB58BA2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Model-Context-Protocol by Kristóf Varga-Balázs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359030-E80E-317A-B80E-C90819B19B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9" t="15230" r="1047" b="6297"/>
          <a:stretch>
            <a:fillRect/>
          </a:stretch>
        </p:blipFill>
        <p:spPr>
          <a:xfrm>
            <a:off x="239350" y="972304"/>
            <a:ext cx="11852269" cy="540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32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B2846B-E0F8-FE0C-5182-FC1A55E2B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Model-Context-Protocol by Kristóf Varga-Balázs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24CE7-A283-DAE0-5A24-7F0E3FC334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Technical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61EA0A-162C-4384-3BF9-710942376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" y="861978"/>
            <a:ext cx="10017760" cy="549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729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A1CE92-FC8B-ACB0-83D4-CABACE435E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49407" y="960895"/>
            <a:ext cx="8093186" cy="539545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DBFA6F-C0AA-4A3B-93A0-E150BF384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Model-Context-Protocol by Kristóf Varga-Balázs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9C2D2-B28B-B58C-4AD7-D17189A42D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079564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70C5D9-DFD4-B1E2-8FB9-A485DEFE7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497" y="1220757"/>
            <a:ext cx="11645153" cy="1248124"/>
          </a:xfrm>
        </p:spPr>
        <p:txBody>
          <a:bodyPr anchor="ctr"/>
          <a:lstStyle/>
          <a:p>
            <a:pPr algn="ctr"/>
            <a:r>
              <a:rPr lang="en-US" sz="3600" dirty="0"/>
              <a:t>MCP enables a shift from AI that only talks,</a:t>
            </a:r>
          </a:p>
          <a:p>
            <a:pPr algn="ctr"/>
            <a:r>
              <a:rPr lang="en-US" sz="3600" dirty="0"/>
              <a:t>to AI that acts within real systems.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B3588-5CBD-9319-D93A-28D96CA40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Model-Context-Protocol by Kristóf Varga-Balázs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97DB2-2AF4-2317-6ADC-D945FD8A66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760C35F-7A01-0CCC-FDE5-15308B7632F4}"/>
              </a:ext>
            </a:extLst>
          </p:cNvPr>
          <p:cNvGrpSpPr/>
          <p:nvPr/>
        </p:nvGrpSpPr>
        <p:grpSpPr>
          <a:xfrm>
            <a:off x="817285" y="2497032"/>
            <a:ext cx="10117828" cy="3859320"/>
            <a:chOff x="817285" y="2497032"/>
            <a:chExt cx="10117828" cy="3859320"/>
          </a:xfrm>
        </p:grpSpPr>
        <p:pic>
          <p:nvPicPr>
            <p:cNvPr id="5" name="Picture 2" descr="QR Code Image">
              <a:extLst>
                <a:ext uri="{FF2B5EF4-FFF2-40B4-BE49-F238E27FC236}">
                  <a16:creationId xmlns:a16="http://schemas.microsoft.com/office/drawing/2014/main" id="{2AFB03C9-2FF2-5A34-F9FE-4A7386924F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285" y="2936352"/>
              <a:ext cx="3420000" cy="34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0" name="Picture 2" descr="QR Code Image">
              <a:extLst>
                <a:ext uri="{FF2B5EF4-FFF2-40B4-BE49-F238E27FC236}">
                  <a16:creationId xmlns:a16="http://schemas.microsoft.com/office/drawing/2014/main" id="{C12548EE-2924-B71A-FA1A-824891DBCE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6458" y="2936352"/>
              <a:ext cx="3420000" cy="34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39149DE-DA32-1C9A-45DE-BBDBDBB52C37}"/>
                </a:ext>
              </a:extLst>
            </p:cNvPr>
            <p:cNvSpPr txBox="1"/>
            <p:nvPr/>
          </p:nvSpPr>
          <p:spPr>
            <a:xfrm>
              <a:off x="1094040" y="2497032"/>
              <a:ext cx="28664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err="1"/>
                <a:t>Github</a:t>
              </a:r>
              <a:r>
                <a:rPr lang="en-US" sz="2400" b="1" dirty="0"/>
                <a:t> repository: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56E717-D63D-DA48-3AD3-9FEEBE63D35C}"/>
                </a:ext>
              </a:extLst>
            </p:cNvPr>
            <p:cNvSpPr txBox="1"/>
            <p:nvPr/>
          </p:nvSpPr>
          <p:spPr>
            <a:xfrm>
              <a:off x="7417803" y="2521433"/>
              <a:ext cx="35173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Contact me (LinkedIn):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CAE7BBD-EF85-C883-83AA-F9CE0CC795B5}"/>
              </a:ext>
            </a:extLst>
          </p:cNvPr>
          <p:cNvSpPr txBox="1"/>
          <p:nvPr/>
        </p:nvSpPr>
        <p:spPr>
          <a:xfrm>
            <a:off x="2209800" y="10363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42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8C844-9763-E76C-7A08-E62F2999A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6231" y="3105834"/>
            <a:ext cx="6959537" cy="646331"/>
          </a:xfrm>
        </p:spPr>
        <p:txBody>
          <a:bodyPr/>
          <a:lstStyle/>
          <a:p>
            <a:pPr algn="ctr"/>
            <a:r>
              <a:rPr lang="en-US" dirty="0"/>
              <a:t>Thank you for your attention!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93884-44E3-ABA2-92A7-F3118D51E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Model-Context-Protocol by Kristóf Varga-Balázs</a:t>
            </a:r>
          </a:p>
        </p:txBody>
      </p:sp>
    </p:spTree>
    <p:extLst>
      <p:ext uri="{BB962C8B-B14F-4D97-AF65-F5344CB8AC3E}">
        <p14:creationId xmlns:p14="http://schemas.microsoft.com/office/powerpoint/2010/main" val="128188959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B0A754EA-BE80-7346-8D65-061265367E9C}" vid="{B8CD21D2-F3B3-6D4A-BB19-E2F97BA4E3A2}"/>
    </a:ext>
  </a:extLst>
</a:theme>
</file>

<file path=ppt/theme/theme2.xml><?xml version="1.0" encoding="utf-8"?>
<a:theme xmlns:a="http://schemas.openxmlformats.org/drawingml/2006/main" name="1_TU_IMW_MMI_Vorlage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2227</TotalTime>
  <Words>532</Words>
  <Application>Microsoft Macintosh PowerPoint</Application>
  <PresentationFormat>Widescreen</PresentationFormat>
  <Paragraphs>67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Symbol</vt:lpstr>
      <vt:lpstr>Wingdings</vt:lpstr>
      <vt:lpstr>Theme1</vt:lpstr>
      <vt:lpstr>1_TU_IMW_MMI_Vorlage</vt:lpstr>
      <vt:lpstr>Model-Context-Protocol A brief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Varga-Balázs, Kristóf</dc:creator>
  <cp:lastModifiedBy>Varga-Balázs, Kristóf</cp:lastModifiedBy>
  <cp:revision>12</cp:revision>
  <dcterms:created xsi:type="dcterms:W3CDTF">2026-03-27T09:53:11Z</dcterms:created>
  <dcterms:modified xsi:type="dcterms:W3CDTF">2026-05-05T12:15:16Z</dcterms:modified>
</cp:coreProperties>
</file>